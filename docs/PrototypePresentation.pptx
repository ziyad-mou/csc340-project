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257" r:id="rId2"/>
    <p:sldId id="258" r:id="rId3"/>
    <p:sldId id="260"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109" d="100"/>
          <a:sy n="109" d="100"/>
        </p:scale>
        <p:origin x="62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467C5F-3087-E645-B21C-5548D6EC86F6}" type="datetimeFigureOut">
              <a:rPr lang="en-US" smtClean="0"/>
              <a:t>9/23/26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DF04C8-B8E4-4F4E-BFDA-E2472978A513}" type="slidenum">
              <a:rPr lang="en-US" smtClean="0"/>
              <a:t>‹#›</a:t>
            </a:fld>
            <a:endParaRPr lang="en-US"/>
          </a:p>
        </p:txBody>
      </p:sp>
    </p:spTree>
    <p:extLst>
      <p:ext uri="{BB962C8B-B14F-4D97-AF65-F5344CB8AC3E}">
        <p14:creationId xmlns:p14="http://schemas.microsoft.com/office/powerpoint/2010/main" val="21908864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Introduce PokeVerse as an online marketplace for Pokémon card collectors and sellers. Emphasize that this milestone is a high-fidelity static UI prototype with no backend requirement yet.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Walk through the live demo in this order: customer home, Shop Cards, one product detail page, Cart, Purchase History, and Tutorial. Mention that data is static and hard-coded for Milestone 2.</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slide to explain the seller/provider side. The demo starts with choosing official packs to stock, then adding those products into inventory, creating the marketplace listing, checking buyer orders, and reviewing dashboard stats. Mention that the dashboard numbers and product data are realistic placeholders for Milestone 2.</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8555F-1E0F-D9EA-B79A-75845A0A05A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519F4F0-B644-6B92-0A62-0F8C207634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D913F79-4015-08E5-9025-D5D1DE97A2B5}"/>
              </a:ext>
            </a:extLst>
          </p:cNvPr>
          <p:cNvSpPr>
            <a:spLocks noGrp="1"/>
          </p:cNvSpPr>
          <p:nvPr>
            <p:ph type="dt" sz="half" idx="10"/>
          </p:nvPr>
        </p:nvSpPr>
        <p:spPr/>
        <p:txBody>
          <a:bodyPr/>
          <a:lstStyle/>
          <a:p>
            <a:fld id="{454E7E49-922A-D244-A931-413FF9CA3B38}" type="datetimeFigureOut">
              <a:rPr lang="en-US" smtClean="0"/>
              <a:t>9/23/26</a:t>
            </a:fld>
            <a:endParaRPr lang="en-US"/>
          </a:p>
        </p:txBody>
      </p:sp>
      <p:sp>
        <p:nvSpPr>
          <p:cNvPr id="5" name="Footer Placeholder 4">
            <a:extLst>
              <a:ext uri="{FF2B5EF4-FFF2-40B4-BE49-F238E27FC236}">
                <a16:creationId xmlns:a16="http://schemas.microsoft.com/office/drawing/2014/main" id="{37DABE78-8A73-432D-0136-4618A0CD98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1DDF21-94B0-D99A-35F4-59520E0DA64E}"/>
              </a:ext>
            </a:extLst>
          </p:cNvPr>
          <p:cNvSpPr>
            <a:spLocks noGrp="1"/>
          </p:cNvSpPr>
          <p:nvPr>
            <p:ph type="sldNum" sz="quarter" idx="12"/>
          </p:nvPr>
        </p:nvSpPr>
        <p:spPr/>
        <p:txBody>
          <a:bodyPr/>
          <a:lstStyle/>
          <a:p>
            <a:fld id="{52209555-803E-F44F-BD0C-BB8271D264A7}" type="slidenum">
              <a:rPr lang="en-US" smtClean="0"/>
              <a:t>‹#›</a:t>
            </a:fld>
            <a:endParaRPr lang="en-US"/>
          </a:p>
        </p:txBody>
      </p:sp>
    </p:spTree>
    <p:extLst>
      <p:ext uri="{BB962C8B-B14F-4D97-AF65-F5344CB8AC3E}">
        <p14:creationId xmlns:p14="http://schemas.microsoft.com/office/powerpoint/2010/main" val="29838739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E5C7E-CB11-5639-EF87-7F11DFD2B09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CD04E98-5670-2ECD-639C-34CEFF42A0C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1BF1AB-848A-839A-4318-C902D3CE647D}"/>
              </a:ext>
            </a:extLst>
          </p:cNvPr>
          <p:cNvSpPr>
            <a:spLocks noGrp="1"/>
          </p:cNvSpPr>
          <p:nvPr>
            <p:ph type="dt" sz="half" idx="10"/>
          </p:nvPr>
        </p:nvSpPr>
        <p:spPr/>
        <p:txBody>
          <a:bodyPr/>
          <a:lstStyle/>
          <a:p>
            <a:fld id="{454E7E49-922A-D244-A931-413FF9CA3B38}" type="datetimeFigureOut">
              <a:rPr lang="en-US" smtClean="0"/>
              <a:t>9/23/26</a:t>
            </a:fld>
            <a:endParaRPr lang="en-US"/>
          </a:p>
        </p:txBody>
      </p:sp>
      <p:sp>
        <p:nvSpPr>
          <p:cNvPr id="5" name="Footer Placeholder 4">
            <a:extLst>
              <a:ext uri="{FF2B5EF4-FFF2-40B4-BE49-F238E27FC236}">
                <a16:creationId xmlns:a16="http://schemas.microsoft.com/office/drawing/2014/main" id="{62B3A4A5-F4D4-736A-F8F5-79009FA445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8ECF88-304F-24C1-A4D9-53DAA1A417CD}"/>
              </a:ext>
            </a:extLst>
          </p:cNvPr>
          <p:cNvSpPr>
            <a:spLocks noGrp="1"/>
          </p:cNvSpPr>
          <p:nvPr>
            <p:ph type="sldNum" sz="quarter" idx="12"/>
          </p:nvPr>
        </p:nvSpPr>
        <p:spPr/>
        <p:txBody>
          <a:bodyPr/>
          <a:lstStyle/>
          <a:p>
            <a:fld id="{52209555-803E-F44F-BD0C-BB8271D264A7}" type="slidenum">
              <a:rPr lang="en-US" smtClean="0"/>
              <a:t>‹#›</a:t>
            </a:fld>
            <a:endParaRPr lang="en-US"/>
          </a:p>
        </p:txBody>
      </p:sp>
    </p:spTree>
    <p:extLst>
      <p:ext uri="{BB962C8B-B14F-4D97-AF65-F5344CB8AC3E}">
        <p14:creationId xmlns:p14="http://schemas.microsoft.com/office/powerpoint/2010/main" val="3007697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5B234-FADB-946E-5A88-589F95E4024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73FD5B3-837D-0C16-F284-9B2516D1A25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7C3B00E-1AA6-A4A2-D027-372358DABA3E}"/>
              </a:ext>
            </a:extLst>
          </p:cNvPr>
          <p:cNvSpPr>
            <a:spLocks noGrp="1"/>
          </p:cNvSpPr>
          <p:nvPr>
            <p:ph type="dt" sz="half" idx="10"/>
          </p:nvPr>
        </p:nvSpPr>
        <p:spPr/>
        <p:txBody>
          <a:bodyPr/>
          <a:lstStyle/>
          <a:p>
            <a:fld id="{454E7E49-922A-D244-A931-413FF9CA3B38}" type="datetimeFigureOut">
              <a:rPr lang="en-US" smtClean="0"/>
              <a:t>9/23/26</a:t>
            </a:fld>
            <a:endParaRPr lang="en-US"/>
          </a:p>
        </p:txBody>
      </p:sp>
      <p:sp>
        <p:nvSpPr>
          <p:cNvPr id="5" name="Footer Placeholder 4">
            <a:extLst>
              <a:ext uri="{FF2B5EF4-FFF2-40B4-BE49-F238E27FC236}">
                <a16:creationId xmlns:a16="http://schemas.microsoft.com/office/drawing/2014/main" id="{295C3C5E-4B38-3386-DB0E-3F5BE5C651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496551-E46E-8346-97A7-C5321E09EADA}"/>
              </a:ext>
            </a:extLst>
          </p:cNvPr>
          <p:cNvSpPr>
            <a:spLocks noGrp="1"/>
          </p:cNvSpPr>
          <p:nvPr>
            <p:ph type="sldNum" sz="quarter" idx="12"/>
          </p:nvPr>
        </p:nvSpPr>
        <p:spPr/>
        <p:txBody>
          <a:bodyPr/>
          <a:lstStyle/>
          <a:p>
            <a:fld id="{52209555-803E-F44F-BD0C-BB8271D264A7}" type="slidenum">
              <a:rPr lang="en-US" smtClean="0"/>
              <a:t>‹#›</a:t>
            </a:fld>
            <a:endParaRPr lang="en-US"/>
          </a:p>
        </p:txBody>
      </p:sp>
    </p:spTree>
    <p:extLst>
      <p:ext uri="{BB962C8B-B14F-4D97-AF65-F5344CB8AC3E}">
        <p14:creationId xmlns:p14="http://schemas.microsoft.com/office/powerpoint/2010/main" val="21557508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BB74C-0329-8312-24F4-2A0D99C9CB2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4F2A7A6-9F92-E173-683A-FD583D90328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D213CED-845D-6D78-B9B4-E68800E77DD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3FA77F2-6F43-2E43-E42C-24D3F8C62329}"/>
              </a:ext>
            </a:extLst>
          </p:cNvPr>
          <p:cNvSpPr>
            <a:spLocks noGrp="1"/>
          </p:cNvSpPr>
          <p:nvPr>
            <p:ph type="dt" sz="half" idx="10"/>
          </p:nvPr>
        </p:nvSpPr>
        <p:spPr/>
        <p:txBody>
          <a:bodyPr/>
          <a:lstStyle/>
          <a:p>
            <a:fld id="{454E7E49-922A-D244-A931-413FF9CA3B38}" type="datetimeFigureOut">
              <a:rPr lang="en-US" smtClean="0"/>
              <a:t>9/23/26</a:t>
            </a:fld>
            <a:endParaRPr lang="en-US"/>
          </a:p>
        </p:txBody>
      </p:sp>
      <p:sp>
        <p:nvSpPr>
          <p:cNvPr id="6" name="Footer Placeholder 5">
            <a:extLst>
              <a:ext uri="{FF2B5EF4-FFF2-40B4-BE49-F238E27FC236}">
                <a16:creationId xmlns:a16="http://schemas.microsoft.com/office/drawing/2014/main" id="{F3805D0C-341D-21FF-DE17-CB1394A9C4B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0867B90-4193-8489-EDE3-E6DD2C34FD01}"/>
              </a:ext>
            </a:extLst>
          </p:cNvPr>
          <p:cNvSpPr>
            <a:spLocks noGrp="1"/>
          </p:cNvSpPr>
          <p:nvPr>
            <p:ph type="sldNum" sz="quarter" idx="12"/>
          </p:nvPr>
        </p:nvSpPr>
        <p:spPr/>
        <p:txBody>
          <a:bodyPr/>
          <a:lstStyle/>
          <a:p>
            <a:fld id="{52209555-803E-F44F-BD0C-BB8271D264A7}" type="slidenum">
              <a:rPr lang="en-US" smtClean="0"/>
              <a:t>‹#›</a:t>
            </a:fld>
            <a:endParaRPr lang="en-US"/>
          </a:p>
        </p:txBody>
      </p:sp>
    </p:spTree>
    <p:extLst>
      <p:ext uri="{BB962C8B-B14F-4D97-AF65-F5344CB8AC3E}">
        <p14:creationId xmlns:p14="http://schemas.microsoft.com/office/powerpoint/2010/main" val="40604498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271A1-7210-714F-137B-185099237F1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CA21662-28FF-C6C9-7827-215F79B635C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BFB60F8-A23B-3DEC-9EE9-AED8276DA67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4451F29-DE4B-B203-18F7-72091E6923B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5AC7747-188E-6A69-5EC1-3916F7D40A5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C216F79-340C-D73B-7CD6-074C7FA173A8}"/>
              </a:ext>
            </a:extLst>
          </p:cNvPr>
          <p:cNvSpPr>
            <a:spLocks noGrp="1"/>
          </p:cNvSpPr>
          <p:nvPr>
            <p:ph type="dt" sz="half" idx="10"/>
          </p:nvPr>
        </p:nvSpPr>
        <p:spPr/>
        <p:txBody>
          <a:bodyPr/>
          <a:lstStyle/>
          <a:p>
            <a:fld id="{454E7E49-922A-D244-A931-413FF9CA3B38}" type="datetimeFigureOut">
              <a:rPr lang="en-US" smtClean="0"/>
              <a:t>9/23/26</a:t>
            </a:fld>
            <a:endParaRPr lang="en-US"/>
          </a:p>
        </p:txBody>
      </p:sp>
      <p:sp>
        <p:nvSpPr>
          <p:cNvPr id="8" name="Footer Placeholder 7">
            <a:extLst>
              <a:ext uri="{FF2B5EF4-FFF2-40B4-BE49-F238E27FC236}">
                <a16:creationId xmlns:a16="http://schemas.microsoft.com/office/drawing/2014/main" id="{B4658EE5-BC24-345A-FEBE-3D46F3AEF51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E5C559A-2CAB-901D-48A4-DC779CD1AF30}"/>
              </a:ext>
            </a:extLst>
          </p:cNvPr>
          <p:cNvSpPr>
            <a:spLocks noGrp="1"/>
          </p:cNvSpPr>
          <p:nvPr>
            <p:ph type="sldNum" sz="quarter" idx="12"/>
          </p:nvPr>
        </p:nvSpPr>
        <p:spPr/>
        <p:txBody>
          <a:bodyPr/>
          <a:lstStyle/>
          <a:p>
            <a:fld id="{52209555-803E-F44F-BD0C-BB8271D264A7}" type="slidenum">
              <a:rPr lang="en-US" smtClean="0"/>
              <a:t>‹#›</a:t>
            </a:fld>
            <a:endParaRPr lang="en-US"/>
          </a:p>
        </p:txBody>
      </p:sp>
    </p:spTree>
    <p:extLst>
      <p:ext uri="{BB962C8B-B14F-4D97-AF65-F5344CB8AC3E}">
        <p14:creationId xmlns:p14="http://schemas.microsoft.com/office/powerpoint/2010/main" val="2416229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7F00B-83DA-FA32-9584-82CB74B0A5E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1DD5293-6DC8-9E77-AA9E-7337192E5355}"/>
              </a:ext>
            </a:extLst>
          </p:cNvPr>
          <p:cNvSpPr>
            <a:spLocks noGrp="1"/>
          </p:cNvSpPr>
          <p:nvPr>
            <p:ph type="dt" sz="half" idx="10"/>
          </p:nvPr>
        </p:nvSpPr>
        <p:spPr/>
        <p:txBody>
          <a:bodyPr/>
          <a:lstStyle/>
          <a:p>
            <a:fld id="{454E7E49-922A-D244-A931-413FF9CA3B38}" type="datetimeFigureOut">
              <a:rPr lang="en-US" smtClean="0"/>
              <a:t>9/23/26</a:t>
            </a:fld>
            <a:endParaRPr lang="en-US"/>
          </a:p>
        </p:txBody>
      </p:sp>
      <p:sp>
        <p:nvSpPr>
          <p:cNvPr id="4" name="Footer Placeholder 3">
            <a:extLst>
              <a:ext uri="{FF2B5EF4-FFF2-40B4-BE49-F238E27FC236}">
                <a16:creationId xmlns:a16="http://schemas.microsoft.com/office/drawing/2014/main" id="{DF7B8C29-BE48-FFE2-AC1E-2310CD8A61D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5416627-C588-BF98-F5A3-1595358244A5}"/>
              </a:ext>
            </a:extLst>
          </p:cNvPr>
          <p:cNvSpPr>
            <a:spLocks noGrp="1"/>
          </p:cNvSpPr>
          <p:nvPr>
            <p:ph type="sldNum" sz="quarter" idx="12"/>
          </p:nvPr>
        </p:nvSpPr>
        <p:spPr/>
        <p:txBody>
          <a:bodyPr/>
          <a:lstStyle/>
          <a:p>
            <a:fld id="{52209555-803E-F44F-BD0C-BB8271D264A7}" type="slidenum">
              <a:rPr lang="en-US" smtClean="0"/>
              <a:t>‹#›</a:t>
            </a:fld>
            <a:endParaRPr lang="en-US"/>
          </a:p>
        </p:txBody>
      </p:sp>
    </p:spTree>
    <p:extLst>
      <p:ext uri="{BB962C8B-B14F-4D97-AF65-F5344CB8AC3E}">
        <p14:creationId xmlns:p14="http://schemas.microsoft.com/office/powerpoint/2010/main" val="25064384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EB98BB-3F38-3791-FEC0-F01DCCF101F6}"/>
              </a:ext>
            </a:extLst>
          </p:cNvPr>
          <p:cNvSpPr>
            <a:spLocks noGrp="1"/>
          </p:cNvSpPr>
          <p:nvPr>
            <p:ph type="dt" sz="half" idx="10"/>
          </p:nvPr>
        </p:nvSpPr>
        <p:spPr/>
        <p:txBody>
          <a:bodyPr/>
          <a:lstStyle/>
          <a:p>
            <a:fld id="{454E7E49-922A-D244-A931-413FF9CA3B38}" type="datetimeFigureOut">
              <a:rPr lang="en-US" smtClean="0"/>
              <a:t>9/23/26</a:t>
            </a:fld>
            <a:endParaRPr lang="en-US"/>
          </a:p>
        </p:txBody>
      </p:sp>
      <p:sp>
        <p:nvSpPr>
          <p:cNvPr id="3" name="Footer Placeholder 2">
            <a:extLst>
              <a:ext uri="{FF2B5EF4-FFF2-40B4-BE49-F238E27FC236}">
                <a16:creationId xmlns:a16="http://schemas.microsoft.com/office/drawing/2014/main" id="{91671AF5-45E8-C8F6-EDB6-D41D6559DAF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8E10E0E-CE3A-3694-29DB-466625F3EECA}"/>
              </a:ext>
            </a:extLst>
          </p:cNvPr>
          <p:cNvSpPr>
            <a:spLocks noGrp="1"/>
          </p:cNvSpPr>
          <p:nvPr>
            <p:ph type="sldNum" sz="quarter" idx="12"/>
          </p:nvPr>
        </p:nvSpPr>
        <p:spPr/>
        <p:txBody>
          <a:bodyPr/>
          <a:lstStyle/>
          <a:p>
            <a:fld id="{52209555-803E-F44F-BD0C-BB8271D264A7}" type="slidenum">
              <a:rPr lang="en-US" smtClean="0"/>
              <a:t>‹#›</a:t>
            </a:fld>
            <a:endParaRPr lang="en-US"/>
          </a:p>
        </p:txBody>
      </p:sp>
    </p:spTree>
    <p:extLst>
      <p:ext uri="{BB962C8B-B14F-4D97-AF65-F5344CB8AC3E}">
        <p14:creationId xmlns:p14="http://schemas.microsoft.com/office/powerpoint/2010/main" val="39814797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6E726-6A23-DFF9-4E58-06FBD1F0B5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D352CAF-AAA5-D351-CB21-32A7AB5D2CE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851AB5F-9A97-99C4-62D6-0463090CFD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18C080-43C7-5525-C655-E6E99A3AA181}"/>
              </a:ext>
            </a:extLst>
          </p:cNvPr>
          <p:cNvSpPr>
            <a:spLocks noGrp="1"/>
          </p:cNvSpPr>
          <p:nvPr>
            <p:ph type="dt" sz="half" idx="10"/>
          </p:nvPr>
        </p:nvSpPr>
        <p:spPr/>
        <p:txBody>
          <a:bodyPr/>
          <a:lstStyle/>
          <a:p>
            <a:fld id="{454E7E49-922A-D244-A931-413FF9CA3B38}" type="datetimeFigureOut">
              <a:rPr lang="en-US" smtClean="0"/>
              <a:t>9/23/26</a:t>
            </a:fld>
            <a:endParaRPr lang="en-US"/>
          </a:p>
        </p:txBody>
      </p:sp>
      <p:sp>
        <p:nvSpPr>
          <p:cNvPr id="6" name="Footer Placeholder 5">
            <a:extLst>
              <a:ext uri="{FF2B5EF4-FFF2-40B4-BE49-F238E27FC236}">
                <a16:creationId xmlns:a16="http://schemas.microsoft.com/office/drawing/2014/main" id="{B6CBFB2E-2D0B-645E-D722-61C8EF7F10E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564845B-BF70-2455-A78D-A17224B931D9}"/>
              </a:ext>
            </a:extLst>
          </p:cNvPr>
          <p:cNvSpPr>
            <a:spLocks noGrp="1"/>
          </p:cNvSpPr>
          <p:nvPr>
            <p:ph type="sldNum" sz="quarter" idx="12"/>
          </p:nvPr>
        </p:nvSpPr>
        <p:spPr/>
        <p:txBody>
          <a:bodyPr/>
          <a:lstStyle/>
          <a:p>
            <a:fld id="{52209555-803E-F44F-BD0C-BB8271D264A7}" type="slidenum">
              <a:rPr lang="en-US" smtClean="0"/>
              <a:t>‹#›</a:t>
            </a:fld>
            <a:endParaRPr lang="en-US"/>
          </a:p>
        </p:txBody>
      </p:sp>
    </p:spTree>
    <p:extLst>
      <p:ext uri="{BB962C8B-B14F-4D97-AF65-F5344CB8AC3E}">
        <p14:creationId xmlns:p14="http://schemas.microsoft.com/office/powerpoint/2010/main" val="540775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D53A8-02C8-62DC-99B1-AE3B6C2813E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D3DBB95-AD03-0934-7BC4-882C34979BD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ADC3743-D12D-97C9-F1DF-F09D7409F1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96126B-8D44-FA03-7850-66E86BBC0DE0}"/>
              </a:ext>
            </a:extLst>
          </p:cNvPr>
          <p:cNvSpPr>
            <a:spLocks noGrp="1"/>
          </p:cNvSpPr>
          <p:nvPr>
            <p:ph type="dt" sz="half" idx="10"/>
          </p:nvPr>
        </p:nvSpPr>
        <p:spPr/>
        <p:txBody>
          <a:bodyPr/>
          <a:lstStyle/>
          <a:p>
            <a:fld id="{454E7E49-922A-D244-A931-413FF9CA3B38}" type="datetimeFigureOut">
              <a:rPr lang="en-US" smtClean="0"/>
              <a:t>9/23/26</a:t>
            </a:fld>
            <a:endParaRPr lang="en-US"/>
          </a:p>
        </p:txBody>
      </p:sp>
      <p:sp>
        <p:nvSpPr>
          <p:cNvPr id="6" name="Footer Placeholder 5">
            <a:extLst>
              <a:ext uri="{FF2B5EF4-FFF2-40B4-BE49-F238E27FC236}">
                <a16:creationId xmlns:a16="http://schemas.microsoft.com/office/drawing/2014/main" id="{A0366773-57CB-4341-9274-0716CFE30BA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86DFA40-4F1F-43EF-A9F7-9201E4724106}"/>
              </a:ext>
            </a:extLst>
          </p:cNvPr>
          <p:cNvSpPr>
            <a:spLocks noGrp="1"/>
          </p:cNvSpPr>
          <p:nvPr>
            <p:ph type="sldNum" sz="quarter" idx="12"/>
          </p:nvPr>
        </p:nvSpPr>
        <p:spPr/>
        <p:txBody>
          <a:bodyPr/>
          <a:lstStyle/>
          <a:p>
            <a:fld id="{52209555-803E-F44F-BD0C-BB8271D264A7}" type="slidenum">
              <a:rPr lang="en-US" smtClean="0"/>
              <a:t>‹#›</a:t>
            </a:fld>
            <a:endParaRPr lang="en-US"/>
          </a:p>
        </p:txBody>
      </p:sp>
    </p:spTree>
    <p:extLst>
      <p:ext uri="{BB962C8B-B14F-4D97-AF65-F5344CB8AC3E}">
        <p14:creationId xmlns:p14="http://schemas.microsoft.com/office/powerpoint/2010/main" val="8822431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3EF70-18F7-2251-8D34-142D5B62C73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688CA24-4BFF-4E51-13FE-27019591D61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EC07D5-B92A-938E-2E27-205A06731E39}"/>
              </a:ext>
            </a:extLst>
          </p:cNvPr>
          <p:cNvSpPr>
            <a:spLocks noGrp="1"/>
          </p:cNvSpPr>
          <p:nvPr>
            <p:ph type="dt" sz="half" idx="10"/>
          </p:nvPr>
        </p:nvSpPr>
        <p:spPr/>
        <p:txBody>
          <a:bodyPr/>
          <a:lstStyle/>
          <a:p>
            <a:fld id="{454E7E49-922A-D244-A931-413FF9CA3B38}" type="datetimeFigureOut">
              <a:rPr lang="en-US" smtClean="0"/>
              <a:t>9/23/26</a:t>
            </a:fld>
            <a:endParaRPr lang="en-US"/>
          </a:p>
        </p:txBody>
      </p:sp>
      <p:sp>
        <p:nvSpPr>
          <p:cNvPr id="5" name="Footer Placeholder 4">
            <a:extLst>
              <a:ext uri="{FF2B5EF4-FFF2-40B4-BE49-F238E27FC236}">
                <a16:creationId xmlns:a16="http://schemas.microsoft.com/office/drawing/2014/main" id="{A53C80FD-107F-91B7-BCCD-6419DFE790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807530-DCCD-395C-E380-0EBF85218BD8}"/>
              </a:ext>
            </a:extLst>
          </p:cNvPr>
          <p:cNvSpPr>
            <a:spLocks noGrp="1"/>
          </p:cNvSpPr>
          <p:nvPr>
            <p:ph type="sldNum" sz="quarter" idx="12"/>
          </p:nvPr>
        </p:nvSpPr>
        <p:spPr/>
        <p:txBody>
          <a:bodyPr/>
          <a:lstStyle/>
          <a:p>
            <a:fld id="{52209555-803E-F44F-BD0C-BB8271D264A7}" type="slidenum">
              <a:rPr lang="en-US" smtClean="0"/>
              <a:t>‹#›</a:t>
            </a:fld>
            <a:endParaRPr lang="en-US"/>
          </a:p>
        </p:txBody>
      </p:sp>
    </p:spTree>
    <p:extLst>
      <p:ext uri="{BB962C8B-B14F-4D97-AF65-F5344CB8AC3E}">
        <p14:creationId xmlns:p14="http://schemas.microsoft.com/office/powerpoint/2010/main" val="40441202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6B7E11-F25E-769D-4836-F5E1AA4873D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39D32B0-DE66-B36B-69CE-7DECB878EAD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7F8958-5B48-E3C8-5990-C5FDC24E5861}"/>
              </a:ext>
            </a:extLst>
          </p:cNvPr>
          <p:cNvSpPr>
            <a:spLocks noGrp="1"/>
          </p:cNvSpPr>
          <p:nvPr>
            <p:ph type="dt" sz="half" idx="10"/>
          </p:nvPr>
        </p:nvSpPr>
        <p:spPr/>
        <p:txBody>
          <a:bodyPr/>
          <a:lstStyle/>
          <a:p>
            <a:fld id="{454E7E49-922A-D244-A931-413FF9CA3B38}" type="datetimeFigureOut">
              <a:rPr lang="en-US" smtClean="0"/>
              <a:t>9/23/26</a:t>
            </a:fld>
            <a:endParaRPr lang="en-US"/>
          </a:p>
        </p:txBody>
      </p:sp>
      <p:sp>
        <p:nvSpPr>
          <p:cNvPr id="5" name="Footer Placeholder 4">
            <a:extLst>
              <a:ext uri="{FF2B5EF4-FFF2-40B4-BE49-F238E27FC236}">
                <a16:creationId xmlns:a16="http://schemas.microsoft.com/office/drawing/2014/main" id="{164EF5ED-8154-3EC7-E58E-29AF09962A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9730ED-CDF1-E5DF-FD52-A75EB8E2CB0A}"/>
              </a:ext>
            </a:extLst>
          </p:cNvPr>
          <p:cNvSpPr>
            <a:spLocks noGrp="1"/>
          </p:cNvSpPr>
          <p:nvPr>
            <p:ph type="sldNum" sz="quarter" idx="12"/>
          </p:nvPr>
        </p:nvSpPr>
        <p:spPr/>
        <p:txBody>
          <a:bodyPr/>
          <a:lstStyle/>
          <a:p>
            <a:fld id="{52209555-803E-F44F-BD0C-BB8271D264A7}" type="slidenum">
              <a:rPr lang="en-US" smtClean="0"/>
              <a:t>‹#›</a:t>
            </a:fld>
            <a:endParaRPr lang="en-US"/>
          </a:p>
        </p:txBody>
      </p:sp>
    </p:spTree>
    <p:extLst>
      <p:ext uri="{BB962C8B-B14F-4D97-AF65-F5344CB8AC3E}">
        <p14:creationId xmlns:p14="http://schemas.microsoft.com/office/powerpoint/2010/main" val="29674580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471298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1E57A6C-AD88-2A9A-0AAC-D815900BBB6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B64CFB3-9B09-E741-C001-8B2B72E810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4183D8-5800-2A56-B3E4-B7A75E15CF9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54E7E49-922A-D244-A931-413FF9CA3B38}" type="datetimeFigureOut">
              <a:rPr lang="en-US" smtClean="0"/>
              <a:t>9/23/26</a:t>
            </a:fld>
            <a:endParaRPr lang="en-US"/>
          </a:p>
        </p:txBody>
      </p:sp>
      <p:sp>
        <p:nvSpPr>
          <p:cNvPr id="5" name="Footer Placeholder 4">
            <a:extLst>
              <a:ext uri="{FF2B5EF4-FFF2-40B4-BE49-F238E27FC236}">
                <a16:creationId xmlns:a16="http://schemas.microsoft.com/office/drawing/2014/main" id="{36444BA3-B34B-0027-4A5F-7D637513B1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0C048F7-7044-3A1A-0E08-5F33FA41DCE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2209555-803E-F44F-BD0C-BB8271D264A7}" type="slidenum">
              <a:rPr lang="en-US" smtClean="0"/>
              <a:t>‹#›</a:t>
            </a:fld>
            <a:endParaRPr lang="en-US"/>
          </a:p>
        </p:txBody>
      </p:sp>
    </p:spTree>
    <p:extLst>
      <p:ext uri="{BB962C8B-B14F-4D97-AF65-F5344CB8AC3E}">
        <p14:creationId xmlns:p14="http://schemas.microsoft.com/office/powerpoint/2010/main" val="6561449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2.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2.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18288"/>
            <a:ext cx="12191695" cy="6858000"/>
          </a:xfrm>
          <a:prstGeom prst="rect">
            <a:avLst/>
          </a:prstGeom>
          <a:solidFill>
            <a:srgbClr val="F7F8FC"/>
          </a:solidFill>
          <a:ln w="12700">
            <a:solidFill>
              <a:srgbClr val="F7F8FC">
                <a:alpha val="0"/>
              </a:srgbClr>
            </a:solidFill>
            <a:prstDash val="solid"/>
          </a:ln>
        </p:spPr>
        <p:txBody>
          <a:bodyPr/>
          <a:lstStyle/>
          <a:p>
            <a:endParaRPr lang="en-US"/>
          </a:p>
        </p:txBody>
      </p:sp>
      <p:pic>
        <p:nvPicPr>
          <p:cNvPr id="3" name="Image 0" descr="/mnt/data/csc340_latest/csc340-project/high-fidelity-prototype/images/PokeVerse-logo.png"/>
          <p:cNvPicPr>
            <a:picLocks noChangeAspect="1"/>
          </p:cNvPicPr>
          <p:nvPr/>
        </p:nvPicPr>
        <p:blipFill>
          <a:blip r:embed="rId3"/>
          <a:stretch>
            <a:fillRect/>
          </a:stretch>
        </p:blipFill>
        <p:spPr>
          <a:xfrm>
            <a:off x="10841839" y="188995"/>
            <a:ext cx="1509876" cy="822960"/>
          </a:xfrm>
          <a:prstGeom prst="rect">
            <a:avLst/>
          </a:prstGeom>
        </p:spPr>
      </p:pic>
      <p:sp>
        <p:nvSpPr>
          <p:cNvPr id="4" name="Text 1"/>
          <p:cNvSpPr/>
          <p:nvPr/>
        </p:nvSpPr>
        <p:spPr>
          <a:xfrm>
            <a:off x="713232" y="1097280"/>
            <a:ext cx="5029200" cy="594360"/>
          </a:xfrm>
          <a:prstGeom prst="rect">
            <a:avLst/>
          </a:prstGeom>
          <a:noFill/>
          <a:ln/>
        </p:spPr>
        <p:txBody>
          <a:bodyPr wrap="square" lIns="0" tIns="0" rIns="0" bIns="0" rtlCol="0" anchor="ctr"/>
          <a:lstStyle/>
          <a:p>
            <a:pPr marL="0" indent="0">
              <a:buNone/>
            </a:pPr>
            <a:r>
              <a:rPr lang="en-US" sz="4200" b="1">
                <a:solidFill>
                  <a:srgbClr val="E63946"/>
                </a:solidFill>
                <a:latin typeface="Aptos Display" pitchFamily="34" charset="0"/>
                <a:ea typeface="Aptos Display" pitchFamily="34" charset="-122"/>
                <a:cs typeface="Aptos Display" pitchFamily="34" charset="-120"/>
              </a:rPr>
              <a:t>PokeVerse</a:t>
            </a:r>
            <a:endParaRPr lang="en-US" sz="4200"/>
          </a:p>
        </p:txBody>
      </p:sp>
      <p:sp>
        <p:nvSpPr>
          <p:cNvPr id="5" name="Text 2"/>
          <p:cNvSpPr/>
          <p:nvPr/>
        </p:nvSpPr>
        <p:spPr>
          <a:xfrm>
            <a:off x="749808" y="1755648"/>
            <a:ext cx="4754880" cy="320040"/>
          </a:xfrm>
          <a:prstGeom prst="rect">
            <a:avLst/>
          </a:prstGeom>
          <a:noFill/>
          <a:ln/>
        </p:spPr>
        <p:txBody>
          <a:bodyPr wrap="square" lIns="0" tIns="0" rIns="0" bIns="0" rtlCol="0" anchor="ctr"/>
          <a:lstStyle/>
          <a:p>
            <a:pPr marL="0" indent="0">
              <a:buNone/>
            </a:pPr>
            <a:r>
              <a:rPr lang="en-US" sz="1800" b="1">
                <a:solidFill>
                  <a:srgbClr val="111827"/>
                </a:solidFill>
                <a:latin typeface="Aptos" pitchFamily="34" charset="0"/>
                <a:ea typeface="Aptos" pitchFamily="34" charset="-122"/>
                <a:cs typeface="Aptos" pitchFamily="34" charset="-120"/>
              </a:rPr>
              <a:t>High-Fidelity Prototype</a:t>
            </a:r>
            <a:endParaRPr lang="en-US" sz="1800"/>
          </a:p>
        </p:txBody>
      </p:sp>
      <p:sp>
        <p:nvSpPr>
          <p:cNvPr id="6" name="Text 3"/>
          <p:cNvSpPr/>
          <p:nvPr/>
        </p:nvSpPr>
        <p:spPr>
          <a:xfrm>
            <a:off x="749808" y="2212848"/>
            <a:ext cx="4846320" cy="685800"/>
          </a:xfrm>
          <a:prstGeom prst="rect">
            <a:avLst/>
          </a:prstGeom>
          <a:noFill/>
          <a:ln/>
        </p:spPr>
        <p:txBody>
          <a:bodyPr wrap="square" lIns="0" tIns="0" rIns="0" bIns="0" rtlCol="0" anchor="ctr">
            <a:normAutofit/>
          </a:bodyPr>
          <a:lstStyle/>
          <a:p>
            <a:pPr marL="0" indent="0">
              <a:buNone/>
            </a:pPr>
            <a:r>
              <a:rPr lang="en-US" sz="1600">
                <a:solidFill>
                  <a:srgbClr val="667085"/>
                </a:solidFill>
                <a:latin typeface="Aptos" pitchFamily="34" charset="0"/>
                <a:ea typeface="Aptos" pitchFamily="34" charset="-122"/>
                <a:cs typeface="Aptos" pitchFamily="34" charset="-120"/>
              </a:rPr>
              <a:t>A static marketplace UI for Pokémon card collectors and sellers, built for CSC 340 Milestone 2.</a:t>
            </a:r>
            <a:endParaRPr lang="en-US" sz="1600"/>
          </a:p>
        </p:txBody>
      </p:sp>
      <p:sp>
        <p:nvSpPr>
          <p:cNvPr id="7" name="Shape 4"/>
          <p:cNvSpPr/>
          <p:nvPr/>
        </p:nvSpPr>
        <p:spPr>
          <a:xfrm>
            <a:off x="749808" y="3154680"/>
            <a:ext cx="2560320" cy="1828800"/>
          </a:xfrm>
          <a:prstGeom prst="roundRect">
            <a:avLst>
              <a:gd name="adj" fmla="val 4500"/>
            </a:avLst>
          </a:prstGeom>
          <a:solidFill>
            <a:srgbClr val="FFFFFF"/>
          </a:solidFill>
          <a:ln w="12700">
            <a:solidFill>
              <a:srgbClr val="E5E7EB"/>
            </a:solidFill>
            <a:prstDash val="solid"/>
          </a:ln>
          <a:effectLst>
            <a:outerShdw blurRad="12700" dist="50800" dir="2700000" algn="bl" rotWithShape="0">
              <a:srgbClr val="111827">
                <a:alpha val="7000"/>
              </a:srgbClr>
            </a:outerShdw>
          </a:effectLst>
        </p:spPr>
        <p:txBody>
          <a:bodyPr/>
          <a:lstStyle/>
          <a:p>
            <a:endParaRPr lang="en-US"/>
          </a:p>
        </p:txBody>
      </p:sp>
      <p:sp>
        <p:nvSpPr>
          <p:cNvPr id="8" name="Shape 5"/>
          <p:cNvSpPr/>
          <p:nvPr/>
        </p:nvSpPr>
        <p:spPr>
          <a:xfrm>
            <a:off x="978408" y="3355848"/>
            <a:ext cx="1143000" cy="347472"/>
          </a:xfrm>
          <a:prstGeom prst="roundRect">
            <a:avLst>
              <a:gd name="adj" fmla="val 21053"/>
            </a:avLst>
          </a:prstGeom>
          <a:solidFill>
            <a:srgbClr val="E63946">
              <a:alpha val="96000"/>
            </a:srgbClr>
          </a:solidFill>
          <a:ln w="12700">
            <a:solidFill>
              <a:srgbClr val="E63946">
                <a:alpha val="0"/>
              </a:srgbClr>
            </a:solidFill>
            <a:prstDash val="solid"/>
          </a:ln>
        </p:spPr>
        <p:txBody>
          <a:bodyPr/>
          <a:lstStyle/>
          <a:p>
            <a:endParaRPr lang="en-US"/>
          </a:p>
        </p:txBody>
      </p:sp>
      <p:sp>
        <p:nvSpPr>
          <p:cNvPr id="9" name="Text 6"/>
          <p:cNvSpPr/>
          <p:nvPr/>
        </p:nvSpPr>
        <p:spPr>
          <a:xfrm>
            <a:off x="1051560" y="3447288"/>
            <a:ext cx="996696" cy="164592"/>
          </a:xfrm>
          <a:prstGeom prst="rect">
            <a:avLst/>
          </a:prstGeom>
          <a:noFill/>
          <a:ln/>
        </p:spPr>
        <p:txBody>
          <a:bodyPr wrap="square" lIns="0" tIns="0" rIns="0" bIns="0" rtlCol="0" anchor="ctr"/>
          <a:lstStyle/>
          <a:p>
            <a:pPr marL="0" indent="0" algn="ctr">
              <a:buNone/>
            </a:pPr>
            <a:r>
              <a:rPr lang="en-US" sz="950" b="1">
                <a:solidFill>
                  <a:srgbClr val="FFFFFF"/>
                </a:solidFill>
                <a:latin typeface="Aptos" pitchFamily="34" charset="0"/>
                <a:ea typeface="Aptos" pitchFamily="34" charset="-122"/>
                <a:cs typeface="Aptos" pitchFamily="34" charset="-120"/>
              </a:rPr>
              <a:t>CUSTOMER</a:t>
            </a:r>
            <a:endParaRPr lang="en-US" sz="950"/>
          </a:p>
        </p:txBody>
      </p:sp>
      <p:sp>
        <p:nvSpPr>
          <p:cNvPr id="10" name="Text 7"/>
          <p:cNvSpPr/>
          <p:nvPr/>
        </p:nvSpPr>
        <p:spPr>
          <a:xfrm>
            <a:off x="1005840" y="3840480"/>
            <a:ext cx="2057400" cy="914400"/>
          </a:xfrm>
          <a:prstGeom prst="rect">
            <a:avLst/>
          </a:prstGeom>
          <a:noFill/>
          <a:ln/>
        </p:spPr>
        <p:txBody>
          <a:bodyPr wrap="square" lIns="254" tIns="254" rIns="254" bIns="254" rtlCol="0" anchor="ctr">
            <a:normAutofit/>
          </a:bodyPr>
          <a:lstStyle/>
          <a:p>
            <a:r>
              <a:rPr lang="en-US" sz="1150">
                <a:solidFill>
                  <a:srgbClr val="111827"/>
                </a:solidFill>
                <a:latin typeface="Aptos" pitchFamily="34" charset="0"/>
                <a:ea typeface="Aptos" pitchFamily="34" charset="-122"/>
                <a:cs typeface="Aptos" pitchFamily="34" charset="-120"/>
              </a:rPr>
              <a:t>Browse products</a:t>
            </a:r>
            <a:endParaRPr lang="en-US" sz="1150"/>
          </a:p>
          <a:p>
            <a:r>
              <a:rPr lang="en-US" sz="1150">
                <a:solidFill>
                  <a:srgbClr val="111827"/>
                </a:solidFill>
                <a:latin typeface="Aptos" pitchFamily="34" charset="0"/>
                <a:ea typeface="Aptos" pitchFamily="34" charset="-122"/>
                <a:cs typeface="Aptos" pitchFamily="34" charset="-120"/>
              </a:rPr>
              <a:t>View product details</a:t>
            </a:r>
            <a:endParaRPr lang="en-US" sz="1150"/>
          </a:p>
          <a:p>
            <a:r>
              <a:rPr lang="en-US" sz="1150">
                <a:solidFill>
                  <a:srgbClr val="111827"/>
                </a:solidFill>
                <a:latin typeface="Aptos" pitchFamily="34" charset="0"/>
                <a:ea typeface="Aptos" pitchFamily="34" charset="-122"/>
                <a:cs typeface="Aptos" pitchFamily="34" charset="-120"/>
              </a:rPr>
              <a:t>Cart, orders, tutorial</a:t>
            </a:r>
            <a:endParaRPr lang="en-US" sz="1150"/>
          </a:p>
        </p:txBody>
      </p:sp>
      <p:sp>
        <p:nvSpPr>
          <p:cNvPr id="11" name="Shape 8"/>
          <p:cNvSpPr/>
          <p:nvPr/>
        </p:nvSpPr>
        <p:spPr>
          <a:xfrm>
            <a:off x="3611880" y="3154680"/>
            <a:ext cx="2560320" cy="1828800"/>
          </a:xfrm>
          <a:prstGeom prst="roundRect">
            <a:avLst>
              <a:gd name="adj" fmla="val 4500"/>
            </a:avLst>
          </a:prstGeom>
          <a:solidFill>
            <a:srgbClr val="FFFFFF"/>
          </a:solidFill>
          <a:ln w="12700">
            <a:solidFill>
              <a:srgbClr val="E5E7EB"/>
            </a:solidFill>
            <a:prstDash val="solid"/>
          </a:ln>
          <a:effectLst>
            <a:outerShdw blurRad="12700" dist="50800" dir="2700000" algn="bl" rotWithShape="0">
              <a:srgbClr val="111827">
                <a:alpha val="7000"/>
              </a:srgbClr>
            </a:outerShdw>
          </a:effectLst>
        </p:spPr>
        <p:txBody>
          <a:bodyPr/>
          <a:lstStyle/>
          <a:p>
            <a:endParaRPr lang="en-US"/>
          </a:p>
        </p:txBody>
      </p:sp>
      <p:sp>
        <p:nvSpPr>
          <p:cNvPr id="12" name="Shape 9"/>
          <p:cNvSpPr/>
          <p:nvPr/>
        </p:nvSpPr>
        <p:spPr>
          <a:xfrm>
            <a:off x="3840480" y="3355848"/>
            <a:ext cx="1143000" cy="347472"/>
          </a:xfrm>
          <a:prstGeom prst="roundRect">
            <a:avLst>
              <a:gd name="adj" fmla="val 21053"/>
            </a:avLst>
          </a:prstGeom>
          <a:solidFill>
            <a:srgbClr val="14213D">
              <a:alpha val="96000"/>
            </a:srgbClr>
          </a:solidFill>
          <a:ln w="12700">
            <a:solidFill>
              <a:srgbClr val="14213D">
                <a:alpha val="0"/>
              </a:srgbClr>
            </a:solidFill>
            <a:prstDash val="solid"/>
          </a:ln>
        </p:spPr>
        <p:txBody>
          <a:bodyPr/>
          <a:lstStyle/>
          <a:p>
            <a:endParaRPr lang="en-US"/>
          </a:p>
        </p:txBody>
      </p:sp>
      <p:sp>
        <p:nvSpPr>
          <p:cNvPr id="13" name="Text 10"/>
          <p:cNvSpPr/>
          <p:nvPr/>
        </p:nvSpPr>
        <p:spPr>
          <a:xfrm>
            <a:off x="3913632" y="3447288"/>
            <a:ext cx="996696" cy="164592"/>
          </a:xfrm>
          <a:prstGeom prst="rect">
            <a:avLst/>
          </a:prstGeom>
          <a:noFill/>
          <a:ln/>
        </p:spPr>
        <p:txBody>
          <a:bodyPr wrap="square" lIns="0" tIns="0" rIns="0" bIns="0" rtlCol="0" anchor="ctr"/>
          <a:lstStyle/>
          <a:p>
            <a:pPr marL="0" indent="0" algn="ctr">
              <a:buNone/>
            </a:pPr>
            <a:r>
              <a:rPr lang="en-US" sz="950" b="1">
                <a:solidFill>
                  <a:srgbClr val="FFFFFF"/>
                </a:solidFill>
                <a:latin typeface="Aptos" pitchFamily="34" charset="0"/>
                <a:ea typeface="Aptos" pitchFamily="34" charset="-122"/>
                <a:cs typeface="Aptos" pitchFamily="34" charset="-120"/>
              </a:rPr>
              <a:t>PROVIDER</a:t>
            </a:r>
            <a:endParaRPr lang="en-US" sz="950"/>
          </a:p>
        </p:txBody>
      </p:sp>
      <p:sp>
        <p:nvSpPr>
          <p:cNvPr id="14" name="Text 11"/>
          <p:cNvSpPr/>
          <p:nvPr/>
        </p:nvSpPr>
        <p:spPr>
          <a:xfrm>
            <a:off x="3867912" y="3840480"/>
            <a:ext cx="2057400" cy="914400"/>
          </a:xfrm>
          <a:prstGeom prst="rect">
            <a:avLst/>
          </a:prstGeom>
          <a:noFill/>
          <a:ln/>
        </p:spPr>
        <p:txBody>
          <a:bodyPr wrap="square" lIns="254" tIns="254" rIns="254" bIns="254" rtlCol="0" anchor="ctr">
            <a:normAutofit/>
          </a:bodyPr>
          <a:lstStyle/>
          <a:p>
            <a:endParaRPr lang="en-US" sz="1150"/>
          </a:p>
        </p:txBody>
      </p:sp>
      <p:sp>
        <p:nvSpPr>
          <p:cNvPr id="15" name="Shape 12"/>
          <p:cNvSpPr/>
          <p:nvPr/>
        </p:nvSpPr>
        <p:spPr>
          <a:xfrm>
            <a:off x="6446520" y="914400"/>
            <a:ext cx="2057400" cy="1874520"/>
          </a:xfrm>
          <a:prstGeom prst="roundRect">
            <a:avLst>
              <a:gd name="adj" fmla="val 3902"/>
            </a:avLst>
          </a:prstGeom>
          <a:solidFill>
            <a:srgbClr val="FFFFFF"/>
          </a:solidFill>
          <a:ln w="12700">
            <a:solidFill>
              <a:srgbClr val="E5E7EB">
                <a:alpha val="80000"/>
              </a:srgbClr>
            </a:solidFill>
            <a:prstDash val="solid"/>
          </a:ln>
          <a:effectLst>
            <a:outerShdw blurRad="15240" dist="50800" dir="2700000" algn="bl" rotWithShape="0">
              <a:srgbClr val="111827">
                <a:alpha val="8000"/>
              </a:srgbClr>
            </a:outerShdw>
          </a:effectLst>
        </p:spPr>
        <p:txBody>
          <a:bodyPr/>
          <a:lstStyle/>
          <a:p>
            <a:endParaRPr lang="en-US"/>
          </a:p>
        </p:txBody>
      </p:sp>
      <p:pic>
        <p:nvPicPr>
          <p:cNvPr id="16" name="Image 1" descr="/mnt/data/csc340_latest/csc340-project/high-fidelity-prototype/images/ex-box.png"/>
          <p:cNvPicPr>
            <a:picLocks noChangeAspect="1"/>
          </p:cNvPicPr>
          <p:nvPr/>
        </p:nvPicPr>
        <p:blipFill>
          <a:blip r:embed="rId4"/>
          <a:stretch>
            <a:fillRect/>
          </a:stretch>
        </p:blipFill>
        <p:spPr>
          <a:xfrm>
            <a:off x="6583680" y="1380336"/>
            <a:ext cx="1783080" cy="942647"/>
          </a:xfrm>
          <a:prstGeom prst="rect">
            <a:avLst/>
          </a:prstGeom>
        </p:spPr>
      </p:pic>
      <p:sp>
        <p:nvSpPr>
          <p:cNvPr id="17" name="Shape 13"/>
          <p:cNvSpPr/>
          <p:nvPr/>
        </p:nvSpPr>
        <p:spPr>
          <a:xfrm>
            <a:off x="8823960" y="685800"/>
            <a:ext cx="2240280" cy="2057400"/>
          </a:xfrm>
          <a:prstGeom prst="roundRect">
            <a:avLst>
              <a:gd name="adj" fmla="val 3556"/>
            </a:avLst>
          </a:prstGeom>
          <a:solidFill>
            <a:srgbClr val="FFFFFF"/>
          </a:solidFill>
          <a:ln w="12700">
            <a:solidFill>
              <a:srgbClr val="E5E7EB">
                <a:alpha val="80000"/>
              </a:srgbClr>
            </a:solidFill>
            <a:prstDash val="solid"/>
          </a:ln>
          <a:effectLst>
            <a:outerShdw blurRad="15240" dist="50800" dir="2700000" algn="bl" rotWithShape="0">
              <a:srgbClr val="111827">
                <a:alpha val="8000"/>
              </a:srgbClr>
            </a:outerShdw>
          </a:effectLst>
        </p:spPr>
        <p:txBody>
          <a:bodyPr/>
          <a:lstStyle/>
          <a:p>
            <a:endParaRPr lang="en-US"/>
          </a:p>
        </p:txBody>
      </p:sp>
      <p:pic>
        <p:nvPicPr>
          <p:cNvPr id="18" name="Image 2" descr="/mnt/data/csc340_latest/csc340-project/high-fidelity-prototype/images/elite.png"/>
          <p:cNvPicPr>
            <a:picLocks noChangeAspect="1"/>
          </p:cNvPicPr>
          <p:nvPr/>
        </p:nvPicPr>
        <p:blipFill>
          <a:blip r:embed="rId5"/>
          <a:stretch>
            <a:fillRect/>
          </a:stretch>
        </p:blipFill>
        <p:spPr>
          <a:xfrm>
            <a:off x="8961120" y="1194835"/>
            <a:ext cx="1965960" cy="1039329"/>
          </a:xfrm>
          <a:prstGeom prst="rect">
            <a:avLst/>
          </a:prstGeom>
        </p:spPr>
      </p:pic>
      <p:sp>
        <p:nvSpPr>
          <p:cNvPr id="19" name="Shape 14"/>
          <p:cNvSpPr/>
          <p:nvPr/>
        </p:nvSpPr>
        <p:spPr>
          <a:xfrm>
            <a:off x="7360920" y="2971800"/>
            <a:ext cx="3154680" cy="2194560"/>
          </a:xfrm>
          <a:prstGeom prst="roundRect">
            <a:avLst>
              <a:gd name="adj" fmla="val 3333"/>
            </a:avLst>
          </a:prstGeom>
          <a:solidFill>
            <a:srgbClr val="FFFFFF"/>
          </a:solidFill>
          <a:ln w="12700">
            <a:solidFill>
              <a:srgbClr val="E5E7EB">
                <a:alpha val="80000"/>
              </a:srgbClr>
            </a:solidFill>
            <a:prstDash val="solid"/>
          </a:ln>
          <a:effectLst>
            <a:outerShdw blurRad="15240" dist="50800" dir="2700000" algn="bl" rotWithShape="0">
              <a:srgbClr val="111827">
                <a:alpha val="8000"/>
              </a:srgbClr>
            </a:outerShdw>
          </a:effectLst>
        </p:spPr>
        <p:txBody>
          <a:bodyPr/>
          <a:lstStyle/>
          <a:p>
            <a:endParaRPr lang="en-US"/>
          </a:p>
        </p:txBody>
      </p:sp>
      <p:pic>
        <p:nvPicPr>
          <p:cNvPr id="20" name="Image 3" descr="/mnt/data/csc340_latest/csc340-project/high-fidelity-prototype/images/tech-sticker.png"/>
          <p:cNvPicPr>
            <a:picLocks noChangeAspect="1"/>
          </p:cNvPicPr>
          <p:nvPr/>
        </p:nvPicPr>
        <p:blipFill>
          <a:blip r:embed="rId6"/>
          <a:stretch>
            <a:fillRect/>
          </a:stretch>
        </p:blipFill>
        <p:spPr>
          <a:xfrm>
            <a:off x="7498080" y="3307711"/>
            <a:ext cx="2880360" cy="1522738"/>
          </a:xfrm>
          <a:prstGeom prst="rect">
            <a:avLst/>
          </a:prstGeom>
        </p:spPr>
      </p:pic>
      <p:sp>
        <p:nvSpPr>
          <p:cNvPr id="21" name="Shape 15"/>
          <p:cNvSpPr/>
          <p:nvPr/>
        </p:nvSpPr>
        <p:spPr>
          <a:xfrm>
            <a:off x="6510528" y="5532120"/>
            <a:ext cx="4434840" cy="438912"/>
          </a:xfrm>
          <a:prstGeom prst="roundRect">
            <a:avLst>
              <a:gd name="adj" fmla="val 16667"/>
            </a:avLst>
          </a:prstGeom>
          <a:solidFill>
            <a:srgbClr val="111827"/>
          </a:solidFill>
          <a:ln w="12700">
            <a:solidFill>
              <a:srgbClr val="111827"/>
            </a:solidFill>
            <a:prstDash val="solid"/>
          </a:ln>
        </p:spPr>
        <p:txBody>
          <a:bodyPr/>
          <a:lstStyle/>
          <a:p>
            <a:endParaRPr lang="en-US"/>
          </a:p>
        </p:txBody>
      </p:sp>
      <p:sp>
        <p:nvSpPr>
          <p:cNvPr id="22" name="Text 16"/>
          <p:cNvSpPr/>
          <p:nvPr/>
        </p:nvSpPr>
        <p:spPr>
          <a:xfrm>
            <a:off x="6720840" y="5650992"/>
            <a:ext cx="4023360" cy="164592"/>
          </a:xfrm>
          <a:prstGeom prst="rect">
            <a:avLst/>
          </a:prstGeom>
          <a:noFill/>
          <a:ln/>
        </p:spPr>
        <p:txBody>
          <a:bodyPr wrap="square" lIns="0" tIns="0" rIns="0" bIns="0" rtlCol="0" anchor="ctr"/>
          <a:lstStyle/>
          <a:p>
            <a:pPr marL="0" indent="0" algn="ctr">
              <a:buNone/>
            </a:pPr>
            <a:r>
              <a:rPr lang="en-US" sz="1050" b="1">
                <a:solidFill>
                  <a:srgbClr val="FFFFFF"/>
                </a:solidFill>
                <a:latin typeface="Aptos" pitchFamily="34" charset="0"/>
                <a:ea typeface="Aptos" pitchFamily="34" charset="-122"/>
                <a:cs typeface="Aptos" pitchFamily="34" charset="-120"/>
              </a:rPr>
              <a:t>Demo focus: page-to-page navigation + realistic UI placeholders</a:t>
            </a:r>
            <a:endParaRPr lang="en-US" sz="1050"/>
          </a:p>
        </p:txBody>
      </p:sp>
      <p:sp>
        <p:nvSpPr>
          <p:cNvPr id="23" name="Text 17"/>
          <p:cNvSpPr/>
          <p:nvPr/>
        </p:nvSpPr>
        <p:spPr>
          <a:xfrm>
            <a:off x="594360" y="6473952"/>
            <a:ext cx="7315200" cy="201168"/>
          </a:xfrm>
          <a:prstGeom prst="rect">
            <a:avLst/>
          </a:prstGeom>
          <a:noFill/>
          <a:ln/>
        </p:spPr>
        <p:txBody>
          <a:bodyPr wrap="square" lIns="0" tIns="0" rIns="0" bIns="0" rtlCol="0" anchor="ctr"/>
          <a:lstStyle/>
          <a:p>
            <a:pPr marL="0" indent="0">
              <a:buNone/>
            </a:pPr>
            <a:r>
              <a:rPr lang="en-US" sz="850">
                <a:solidFill>
                  <a:srgbClr val="8A94A6"/>
                </a:solidFill>
                <a:latin typeface="Aptos" pitchFamily="34" charset="0"/>
                <a:ea typeface="Aptos" pitchFamily="34" charset="-122"/>
                <a:cs typeface="Aptos" pitchFamily="34" charset="-120"/>
              </a:rPr>
              <a:t>CSC 340 • High-Fidelity Prototype • 1/3</a:t>
            </a:r>
            <a:endParaRPr lang="en-US" sz="850"/>
          </a:p>
        </p:txBody>
      </p:sp>
      <p:sp>
        <p:nvSpPr>
          <p:cNvPr id="24" name="TextBox 23">
            <a:extLst>
              <a:ext uri="{FF2B5EF4-FFF2-40B4-BE49-F238E27FC236}">
                <a16:creationId xmlns:a16="http://schemas.microsoft.com/office/drawing/2014/main" id="{26A9821C-F97B-808F-4FEF-48956B92901B}"/>
              </a:ext>
            </a:extLst>
          </p:cNvPr>
          <p:cNvSpPr txBox="1"/>
          <p:nvPr/>
        </p:nvSpPr>
        <p:spPr>
          <a:xfrm>
            <a:off x="3838575" y="3840956"/>
            <a:ext cx="1809750" cy="104644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dirty="0">
                <a:solidFill>
                  <a:srgbClr val="111827"/>
                </a:solidFill>
              </a:rPr>
              <a:t> Buy official packs</a:t>
            </a:r>
            <a:br>
              <a:rPr lang="en-US" sz="1100" dirty="0">
                <a:solidFill>
                  <a:srgbClr val="111827"/>
                </a:solidFill>
              </a:rPr>
            </a:br>
            <a:r>
              <a:rPr lang="en-US" sz="1100" dirty="0">
                <a:solidFill>
                  <a:srgbClr val="111827"/>
                </a:solidFill>
              </a:rPr>
              <a:t> Add inventory</a:t>
            </a:r>
            <a:br>
              <a:rPr lang="en-US" sz="1100" dirty="0">
                <a:solidFill>
                  <a:srgbClr val="111827"/>
                </a:solidFill>
              </a:rPr>
            </a:br>
            <a:r>
              <a:rPr lang="en-US" sz="1100" dirty="0">
                <a:solidFill>
                  <a:srgbClr val="111827"/>
                </a:solidFill>
              </a:rPr>
              <a:t> List products</a:t>
            </a:r>
            <a:br>
              <a:rPr lang="en-US" sz="1100" dirty="0">
                <a:solidFill>
                  <a:srgbClr val="111827"/>
                </a:solidFill>
              </a:rPr>
            </a:br>
            <a:r>
              <a:rPr lang="en-US" sz="1100" dirty="0">
                <a:solidFill>
                  <a:srgbClr val="111827"/>
                </a:solidFill>
              </a:rPr>
              <a:t> Manage orders</a:t>
            </a:r>
            <a:endParaRPr lang="en-US" dirty="0"/>
          </a:p>
          <a:p>
            <a:pPr algn="l"/>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8FC"/>
          </a:solidFill>
          <a:ln w="12700">
            <a:solidFill>
              <a:srgbClr val="F7F8FC">
                <a:alpha val="0"/>
              </a:srgbClr>
            </a:solidFill>
            <a:prstDash val="solid"/>
          </a:ln>
        </p:spPr>
        <p:txBody>
          <a:bodyPr/>
          <a:lstStyle/>
          <a:p>
            <a:endParaRPr lang="en-US"/>
          </a:p>
        </p:txBody>
      </p:sp>
      <p:pic>
        <p:nvPicPr>
          <p:cNvPr id="3" name="Image 0" descr="/mnt/data/csc340_latest/csc340-project/high-fidelity-prototype/images/PokeVerse-logo.png"/>
          <p:cNvPicPr>
            <a:picLocks noChangeAspect="1"/>
          </p:cNvPicPr>
          <p:nvPr/>
        </p:nvPicPr>
        <p:blipFill>
          <a:blip r:embed="rId3"/>
          <a:stretch>
            <a:fillRect/>
          </a:stretch>
        </p:blipFill>
        <p:spPr>
          <a:xfrm>
            <a:off x="11320272" y="332804"/>
            <a:ext cx="731520" cy="398716"/>
          </a:xfrm>
          <a:prstGeom prst="rect">
            <a:avLst/>
          </a:prstGeom>
        </p:spPr>
      </p:pic>
      <p:sp>
        <p:nvSpPr>
          <p:cNvPr id="4" name="Text 1"/>
          <p:cNvSpPr/>
          <p:nvPr/>
        </p:nvSpPr>
        <p:spPr>
          <a:xfrm>
            <a:off x="713232" y="731520"/>
            <a:ext cx="5669280" cy="658368"/>
          </a:xfrm>
          <a:prstGeom prst="rect">
            <a:avLst/>
          </a:prstGeom>
          <a:noFill/>
          <a:ln/>
        </p:spPr>
        <p:txBody>
          <a:bodyPr wrap="square" lIns="0" tIns="0" rIns="0" bIns="0" rtlCol="0" anchor="ctr">
            <a:normAutofit/>
          </a:bodyPr>
          <a:lstStyle/>
          <a:p>
            <a:pPr marL="0" indent="0">
              <a:buNone/>
            </a:pPr>
            <a:r>
              <a:rPr lang="en-US" sz="3100" b="1">
                <a:solidFill>
                  <a:srgbClr val="111827"/>
                </a:solidFill>
                <a:latin typeface="Aptos Display" pitchFamily="34" charset="0"/>
                <a:ea typeface="Aptos Display" pitchFamily="34" charset="-122"/>
                <a:cs typeface="Aptos Display" pitchFamily="34" charset="-120"/>
              </a:rPr>
              <a:t>Customer prototype demo flow</a:t>
            </a:r>
            <a:endParaRPr lang="en-US" sz="3100"/>
          </a:p>
        </p:txBody>
      </p:sp>
      <p:sp>
        <p:nvSpPr>
          <p:cNvPr id="5" name="Text 2"/>
          <p:cNvSpPr/>
          <p:nvPr/>
        </p:nvSpPr>
        <p:spPr>
          <a:xfrm>
            <a:off x="731520" y="1389888"/>
            <a:ext cx="5394960" cy="365760"/>
          </a:xfrm>
          <a:prstGeom prst="rect">
            <a:avLst/>
          </a:prstGeom>
          <a:noFill/>
          <a:ln/>
        </p:spPr>
        <p:txBody>
          <a:bodyPr wrap="square" lIns="0" tIns="0" rIns="0" bIns="0" rtlCol="0" anchor="ctr">
            <a:normAutofit fontScale="92500" lnSpcReduction="10000"/>
          </a:bodyPr>
          <a:lstStyle/>
          <a:p>
            <a:pPr marL="0" indent="0">
              <a:buNone/>
            </a:pPr>
            <a:r>
              <a:rPr lang="en-US" sz="1450">
                <a:solidFill>
                  <a:srgbClr val="667085"/>
                </a:solidFill>
                <a:latin typeface="Aptos" pitchFamily="34" charset="0"/>
                <a:ea typeface="Aptos" pitchFamily="34" charset="-122"/>
                <a:cs typeface="Aptos" pitchFamily="34" charset="-120"/>
              </a:rPr>
              <a:t>Ziyad’s subsystem: hard-coded UI pages that demonstrate the customer experience.</a:t>
            </a:r>
            <a:endParaRPr lang="en-US" sz="1450"/>
          </a:p>
        </p:txBody>
      </p:sp>
      <p:sp>
        <p:nvSpPr>
          <p:cNvPr id="6" name="Shape 3"/>
          <p:cNvSpPr/>
          <p:nvPr/>
        </p:nvSpPr>
        <p:spPr>
          <a:xfrm>
            <a:off x="713232" y="2148840"/>
            <a:ext cx="1874520" cy="1143000"/>
          </a:xfrm>
          <a:prstGeom prst="roundRect">
            <a:avLst>
              <a:gd name="adj" fmla="val 6400"/>
            </a:avLst>
          </a:prstGeom>
          <a:solidFill>
            <a:srgbClr val="FFFFFF"/>
          </a:solidFill>
          <a:ln w="12700">
            <a:solidFill>
              <a:srgbClr val="E5E7EB"/>
            </a:solidFill>
            <a:prstDash val="solid"/>
          </a:ln>
        </p:spPr>
        <p:txBody>
          <a:bodyPr/>
          <a:lstStyle/>
          <a:p>
            <a:endParaRPr lang="en-US"/>
          </a:p>
        </p:txBody>
      </p:sp>
      <p:sp>
        <p:nvSpPr>
          <p:cNvPr id="7" name="Shape 4"/>
          <p:cNvSpPr/>
          <p:nvPr/>
        </p:nvSpPr>
        <p:spPr>
          <a:xfrm>
            <a:off x="877824" y="2359152"/>
            <a:ext cx="384048" cy="384048"/>
          </a:xfrm>
          <a:prstGeom prst="ellipse">
            <a:avLst/>
          </a:prstGeom>
          <a:solidFill>
            <a:srgbClr val="111827"/>
          </a:solidFill>
          <a:ln w="12700">
            <a:solidFill>
              <a:srgbClr val="111827"/>
            </a:solidFill>
            <a:prstDash val="solid"/>
          </a:ln>
        </p:spPr>
        <p:txBody>
          <a:bodyPr/>
          <a:lstStyle/>
          <a:p>
            <a:endParaRPr lang="en-US"/>
          </a:p>
        </p:txBody>
      </p:sp>
      <p:sp>
        <p:nvSpPr>
          <p:cNvPr id="8" name="Text 5"/>
          <p:cNvSpPr/>
          <p:nvPr/>
        </p:nvSpPr>
        <p:spPr>
          <a:xfrm>
            <a:off x="877824" y="2473452"/>
            <a:ext cx="384048" cy="91440"/>
          </a:xfrm>
          <a:prstGeom prst="rect">
            <a:avLst/>
          </a:prstGeom>
          <a:noFill/>
          <a:ln/>
        </p:spPr>
        <p:txBody>
          <a:bodyPr wrap="square" lIns="0" tIns="0" rIns="0" bIns="0" rtlCol="0" anchor="ctr"/>
          <a:lstStyle/>
          <a:p>
            <a:pPr marL="0" indent="0" algn="ctr">
              <a:buNone/>
            </a:pPr>
            <a:r>
              <a:rPr lang="en-US" sz="850" b="1">
                <a:solidFill>
                  <a:srgbClr val="FFFFFF"/>
                </a:solidFill>
                <a:latin typeface="Aptos" pitchFamily="34" charset="0"/>
                <a:ea typeface="Aptos" pitchFamily="34" charset="-122"/>
                <a:cs typeface="Aptos" pitchFamily="34" charset="-120"/>
              </a:rPr>
              <a:t>1</a:t>
            </a:r>
            <a:endParaRPr lang="en-US" sz="850"/>
          </a:p>
        </p:txBody>
      </p:sp>
      <p:sp>
        <p:nvSpPr>
          <p:cNvPr id="9" name="Text 6"/>
          <p:cNvSpPr/>
          <p:nvPr/>
        </p:nvSpPr>
        <p:spPr>
          <a:xfrm>
            <a:off x="1371600" y="2440720"/>
            <a:ext cx="1005840" cy="228600"/>
          </a:xfrm>
          <a:prstGeom prst="rect">
            <a:avLst/>
          </a:prstGeom>
          <a:noFill/>
          <a:ln/>
        </p:spPr>
        <p:txBody>
          <a:bodyPr wrap="square" lIns="0" tIns="0" rIns="0" bIns="0" rtlCol="0" anchor="ctr">
            <a:normAutofit/>
          </a:bodyPr>
          <a:lstStyle/>
          <a:p>
            <a:pPr marL="0" indent="0">
              <a:buNone/>
            </a:pPr>
            <a:r>
              <a:rPr lang="en-US" sz="1250" b="1">
                <a:solidFill>
                  <a:srgbClr val="111827"/>
                </a:solidFill>
                <a:latin typeface="Aptos" pitchFamily="34" charset="0"/>
                <a:ea typeface="Aptos" pitchFamily="34" charset="-122"/>
                <a:cs typeface="Aptos" pitchFamily="34" charset="-120"/>
              </a:rPr>
              <a:t>Home</a:t>
            </a:r>
            <a:endParaRPr lang="en-US" sz="1250"/>
          </a:p>
        </p:txBody>
      </p:sp>
      <p:sp>
        <p:nvSpPr>
          <p:cNvPr id="10" name="Text 7"/>
          <p:cNvSpPr/>
          <p:nvPr/>
        </p:nvSpPr>
        <p:spPr>
          <a:xfrm>
            <a:off x="923543" y="2779776"/>
            <a:ext cx="1615745" cy="301752"/>
          </a:xfrm>
          <a:prstGeom prst="rect">
            <a:avLst/>
          </a:prstGeom>
          <a:noFill/>
          <a:ln/>
        </p:spPr>
        <p:txBody>
          <a:bodyPr wrap="square" lIns="0" tIns="0" rIns="0" bIns="0" rtlCol="0" anchor="ctr">
            <a:normAutofit/>
          </a:bodyPr>
          <a:lstStyle/>
          <a:p>
            <a:pPr marL="0" indent="0">
              <a:buNone/>
            </a:pPr>
            <a:r>
              <a:rPr lang="en-US" sz="880">
                <a:solidFill>
                  <a:srgbClr val="667085"/>
                </a:solidFill>
                <a:latin typeface="Aptos" pitchFamily="34" charset="0"/>
                <a:ea typeface="Aptos" pitchFamily="34" charset="-122"/>
                <a:cs typeface="Aptos" pitchFamily="34" charset="-120"/>
              </a:rPr>
              <a:t>Entry point and search</a:t>
            </a:r>
            <a:endParaRPr lang="en-US" sz="880"/>
          </a:p>
        </p:txBody>
      </p:sp>
      <p:sp>
        <p:nvSpPr>
          <p:cNvPr id="11" name="Shape 8"/>
          <p:cNvSpPr/>
          <p:nvPr/>
        </p:nvSpPr>
        <p:spPr>
          <a:xfrm>
            <a:off x="2999232" y="2148840"/>
            <a:ext cx="1874520" cy="1143000"/>
          </a:xfrm>
          <a:prstGeom prst="roundRect">
            <a:avLst>
              <a:gd name="adj" fmla="val 6400"/>
            </a:avLst>
          </a:prstGeom>
          <a:solidFill>
            <a:srgbClr val="FFFFFF"/>
          </a:solidFill>
          <a:ln w="12700">
            <a:solidFill>
              <a:srgbClr val="E5E7EB"/>
            </a:solidFill>
            <a:prstDash val="solid"/>
          </a:ln>
        </p:spPr>
        <p:txBody>
          <a:bodyPr/>
          <a:lstStyle/>
          <a:p>
            <a:endParaRPr lang="en-US"/>
          </a:p>
        </p:txBody>
      </p:sp>
      <p:sp>
        <p:nvSpPr>
          <p:cNvPr id="12" name="Shape 9"/>
          <p:cNvSpPr/>
          <p:nvPr/>
        </p:nvSpPr>
        <p:spPr>
          <a:xfrm>
            <a:off x="3163824" y="2359152"/>
            <a:ext cx="384048" cy="384048"/>
          </a:xfrm>
          <a:prstGeom prst="ellipse">
            <a:avLst/>
          </a:prstGeom>
          <a:solidFill>
            <a:srgbClr val="E63946"/>
          </a:solidFill>
          <a:ln w="12700">
            <a:solidFill>
              <a:srgbClr val="E63946"/>
            </a:solidFill>
            <a:prstDash val="solid"/>
          </a:ln>
        </p:spPr>
        <p:txBody>
          <a:bodyPr/>
          <a:lstStyle/>
          <a:p>
            <a:endParaRPr lang="en-US"/>
          </a:p>
        </p:txBody>
      </p:sp>
      <p:sp>
        <p:nvSpPr>
          <p:cNvPr id="13" name="Text 10"/>
          <p:cNvSpPr/>
          <p:nvPr/>
        </p:nvSpPr>
        <p:spPr>
          <a:xfrm>
            <a:off x="3163824" y="2473452"/>
            <a:ext cx="384048" cy="91440"/>
          </a:xfrm>
          <a:prstGeom prst="rect">
            <a:avLst/>
          </a:prstGeom>
          <a:noFill/>
          <a:ln/>
        </p:spPr>
        <p:txBody>
          <a:bodyPr wrap="square" lIns="0" tIns="0" rIns="0" bIns="0" rtlCol="0" anchor="ctr"/>
          <a:lstStyle/>
          <a:p>
            <a:pPr marL="0" indent="0" algn="ctr">
              <a:buNone/>
            </a:pPr>
            <a:r>
              <a:rPr lang="en-US" sz="850" b="1">
                <a:solidFill>
                  <a:srgbClr val="FFFFFF"/>
                </a:solidFill>
                <a:latin typeface="Aptos" pitchFamily="34" charset="0"/>
                <a:ea typeface="Aptos" pitchFamily="34" charset="-122"/>
                <a:cs typeface="Aptos" pitchFamily="34" charset="-120"/>
              </a:rPr>
              <a:t>2</a:t>
            </a:r>
            <a:endParaRPr lang="en-US" sz="850"/>
          </a:p>
        </p:txBody>
      </p:sp>
      <p:sp>
        <p:nvSpPr>
          <p:cNvPr id="14" name="Text 11"/>
          <p:cNvSpPr/>
          <p:nvPr/>
        </p:nvSpPr>
        <p:spPr>
          <a:xfrm>
            <a:off x="3657600" y="2440720"/>
            <a:ext cx="1005840" cy="228600"/>
          </a:xfrm>
          <a:prstGeom prst="rect">
            <a:avLst/>
          </a:prstGeom>
          <a:noFill/>
          <a:ln/>
        </p:spPr>
        <p:txBody>
          <a:bodyPr wrap="square" lIns="0" tIns="0" rIns="0" bIns="0" rtlCol="0" anchor="ctr">
            <a:normAutofit/>
          </a:bodyPr>
          <a:lstStyle/>
          <a:p>
            <a:pPr marL="0" indent="0">
              <a:buNone/>
            </a:pPr>
            <a:r>
              <a:rPr lang="en-US" sz="1250" b="1">
                <a:solidFill>
                  <a:srgbClr val="111827"/>
                </a:solidFill>
                <a:latin typeface="Aptos" pitchFamily="34" charset="0"/>
                <a:ea typeface="Aptos" pitchFamily="34" charset="-122"/>
                <a:cs typeface="Aptos" pitchFamily="34" charset="-120"/>
              </a:rPr>
              <a:t>Shop Cards</a:t>
            </a:r>
            <a:endParaRPr lang="en-US" sz="1250"/>
          </a:p>
        </p:txBody>
      </p:sp>
      <p:sp>
        <p:nvSpPr>
          <p:cNvPr id="15" name="Text 12"/>
          <p:cNvSpPr/>
          <p:nvPr/>
        </p:nvSpPr>
        <p:spPr>
          <a:xfrm>
            <a:off x="3209544" y="2779776"/>
            <a:ext cx="1417320" cy="301752"/>
          </a:xfrm>
          <a:prstGeom prst="rect">
            <a:avLst/>
          </a:prstGeom>
          <a:noFill/>
          <a:ln/>
        </p:spPr>
        <p:txBody>
          <a:bodyPr wrap="square" lIns="0" tIns="0" rIns="0" bIns="0" rtlCol="0" anchor="ctr">
            <a:normAutofit/>
          </a:bodyPr>
          <a:lstStyle/>
          <a:p>
            <a:pPr marL="0" indent="0">
              <a:buNone/>
            </a:pPr>
            <a:r>
              <a:rPr lang="en-US" sz="880">
                <a:solidFill>
                  <a:srgbClr val="667085"/>
                </a:solidFill>
                <a:latin typeface="Aptos" pitchFamily="34" charset="0"/>
                <a:ea typeface="Aptos" pitchFamily="34" charset="-122"/>
                <a:cs typeface="Aptos" pitchFamily="34" charset="-120"/>
              </a:rPr>
              <a:t>Filters, sort, real products</a:t>
            </a:r>
            <a:endParaRPr lang="en-US" sz="880"/>
          </a:p>
        </p:txBody>
      </p:sp>
      <p:sp>
        <p:nvSpPr>
          <p:cNvPr id="16" name="Shape 13"/>
          <p:cNvSpPr/>
          <p:nvPr/>
        </p:nvSpPr>
        <p:spPr>
          <a:xfrm>
            <a:off x="5285232" y="2148840"/>
            <a:ext cx="1874520" cy="1143000"/>
          </a:xfrm>
          <a:prstGeom prst="roundRect">
            <a:avLst>
              <a:gd name="adj" fmla="val 6400"/>
            </a:avLst>
          </a:prstGeom>
          <a:solidFill>
            <a:srgbClr val="FFFFFF"/>
          </a:solidFill>
          <a:ln w="12700">
            <a:solidFill>
              <a:srgbClr val="E5E7EB"/>
            </a:solidFill>
            <a:prstDash val="solid"/>
          </a:ln>
        </p:spPr>
        <p:txBody>
          <a:bodyPr/>
          <a:lstStyle/>
          <a:p>
            <a:endParaRPr lang="en-US"/>
          </a:p>
        </p:txBody>
      </p:sp>
      <p:sp>
        <p:nvSpPr>
          <p:cNvPr id="17" name="Shape 14"/>
          <p:cNvSpPr/>
          <p:nvPr/>
        </p:nvSpPr>
        <p:spPr>
          <a:xfrm>
            <a:off x="5449824" y="2359152"/>
            <a:ext cx="384048" cy="384048"/>
          </a:xfrm>
          <a:prstGeom prst="ellipse">
            <a:avLst/>
          </a:prstGeom>
          <a:solidFill>
            <a:srgbClr val="111827"/>
          </a:solidFill>
          <a:ln w="12700">
            <a:solidFill>
              <a:srgbClr val="111827"/>
            </a:solidFill>
            <a:prstDash val="solid"/>
          </a:ln>
        </p:spPr>
        <p:txBody>
          <a:bodyPr/>
          <a:lstStyle/>
          <a:p>
            <a:endParaRPr lang="en-US"/>
          </a:p>
        </p:txBody>
      </p:sp>
      <p:sp>
        <p:nvSpPr>
          <p:cNvPr id="18" name="Text 15"/>
          <p:cNvSpPr/>
          <p:nvPr/>
        </p:nvSpPr>
        <p:spPr>
          <a:xfrm>
            <a:off x="5449824" y="2473452"/>
            <a:ext cx="384048" cy="91440"/>
          </a:xfrm>
          <a:prstGeom prst="rect">
            <a:avLst/>
          </a:prstGeom>
          <a:noFill/>
          <a:ln/>
        </p:spPr>
        <p:txBody>
          <a:bodyPr wrap="square" lIns="0" tIns="0" rIns="0" bIns="0" rtlCol="0" anchor="ctr"/>
          <a:lstStyle/>
          <a:p>
            <a:pPr marL="0" indent="0" algn="ctr">
              <a:buNone/>
            </a:pPr>
            <a:r>
              <a:rPr lang="en-US" sz="850" b="1">
                <a:solidFill>
                  <a:srgbClr val="FFFFFF"/>
                </a:solidFill>
                <a:latin typeface="Aptos" pitchFamily="34" charset="0"/>
                <a:ea typeface="Aptos" pitchFamily="34" charset="-122"/>
                <a:cs typeface="Aptos" pitchFamily="34" charset="-120"/>
              </a:rPr>
              <a:t>3</a:t>
            </a:r>
            <a:endParaRPr lang="en-US" sz="850"/>
          </a:p>
        </p:txBody>
      </p:sp>
      <p:sp>
        <p:nvSpPr>
          <p:cNvPr id="19" name="Text 16"/>
          <p:cNvSpPr/>
          <p:nvPr/>
        </p:nvSpPr>
        <p:spPr>
          <a:xfrm>
            <a:off x="5943600" y="2440720"/>
            <a:ext cx="1005840" cy="228600"/>
          </a:xfrm>
          <a:prstGeom prst="rect">
            <a:avLst/>
          </a:prstGeom>
          <a:noFill/>
          <a:ln/>
        </p:spPr>
        <p:txBody>
          <a:bodyPr wrap="square" lIns="0" tIns="0" rIns="0" bIns="0" rtlCol="0" anchor="ctr">
            <a:normAutofit/>
          </a:bodyPr>
          <a:lstStyle/>
          <a:p>
            <a:pPr marL="0" indent="0">
              <a:buNone/>
            </a:pPr>
            <a:r>
              <a:rPr lang="en-US" sz="1250" b="1">
                <a:solidFill>
                  <a:srgbClr val="111827"/>
                </a:solidFill>
                <a:latin typeface="Aptos" pitchFamily="34" charset="0"/>
                <a:ea typeface="Aptos" pitchFamily="34" charset="-122"/>
                <a:cs typeface="Aptos" pitchFamily="34" charset="-120"/>
              </a:rPr>
              <a:t>Details</a:t>
            </a:r>
            <a:endParaRPr lang="en-US" sz="1250"/>
          </a:p>
        </p:txBody>
      </p:sp>
      <p:sp>
        <p:nvSpPr>
          <p:cNvPr id="20" name="Text 17"/>
          <p:cNvSpPr/>
          <p:nvPr/>
        </p:nvSpPr>
        <p:spPr>
          <a:xfrm>
            <a:off x="5495544" y="2779776"/>
            <a:ext cx="1417320" cy="301752"/>
          </a:xfrm>
          <a:prstGeom prst="rect">
            <a:avLst/>
          </a:prstGeom>
          <a:noFill/>
          <a:ln/>
        </p:spPr>
        <p:txBody>
          <a:bodyPr wrap="square" lIns="0" tIns="0" rIns="0" bIns="0" rtlCol="0" anchor="ctr">
            <a:normAutofit/>
          </a:bodyPr>
          <a:lstStyle/>
          <a:p>
            <a:pPr marL="0" indent="0">
              <a:buNone/>
            </a:pPr>
            <a:r>
              <a:rPr lang="en-US" sz="880">
                <a:solidFill>
                  <a:srgbClr val="667085"/>
                </a:solidFill>
                <a:latin typeface="Aptos" pitchFamily="34" charset="0"/>
                <a:ea typeface="Aptos" pitchFamily="34" charset="-122"/>
                <a:cs typeface="Aptos" pitchFamily="34" charset="-120"/>
              </a:rPr>
              <a:t>Features, price, description</a:t>
            </a:r>
            <a:endParaRPr lang="en-US" sz="880"/>
          </a:p>
        </p:txBody>
      </p:sp>
      <p:sp>
        <p:nvSpPr>
          <p:cNvPr id="21" name="Shape 18"/>
          <p:cNvSpPr/>
          <p:nvPr/>
        </p:nvSpPr>
        <p:spPr>
          <a:xfrm>
            <a:off x="7571232" y="2148840"/>
            <a:ext cx="1874520" cy="1143000"/>
          </a:xfrm>
          <a:prstGeom prst="roundRect">
            <a:avLst>
              <a:gd name="adj" fmla="val 6400"/>
            </a:avLst>
          </a:prstGeom>
          <a:solidFill>
            <a:srgbClr val="FFFFFF"/>
          </a:solidFill>
          <a:ln w="12700">
            <a:solidFill>
              <a:srgbClr val="E5E7EB"/>
            </a:solidFill>
            <a:prstDash val="solid"/>
          </a:ln>
        </p:spPr>
        <p:txBody>
          <a:bodyPr/>
          <a:lstStyle/>
          <a:p>
            <a:endParaRPr lang="en-US"/>
          </a:p>
        </p:txBody>
      </p:sp>
      <p:sp>
        <p:nvSpPr>
          <p:cNvPr id="22" name="Shape 19"/>
          <p:cNvSpPr/>
          <p:nvPr/>
        </p:nvSpPr>
        <p:spPr>
          <a:xfrm>
            <a:off x="7735824" y="2359152"/>
            <a:ext cx="384048" cy="384048"/>
          </a:xfrm>
          <a:prstGeom prst="ellipse">
            <a:avLst/>
          </a:prstGeom>
          <a:solidFill>
            <a:srgbClr val="111827"/>
          </a:solidFill>
          <a:ln w="12700">
            <a:solidFill>
              <a:srgbClr val="111827"/>
            </a:solidFill>
            <a:prstDash val="solid"/>
          </a:ln>
        </p:spPr>
        <p:txBody>
          <a:bodyPr/>
          <a:lstStyle/>
          <a:p>
            <a:endParaRPr lang="en-US"/>
          </a:p>
        </p:txBody>
      </p:sp>
      <p:sp>
        <p:nvSpPr>
          <p:cNvPr id="23" name="Text 20"/>
          <p:cNvSpPr/>
          <p:nvPr/>
        </p:nvSpPr>
        <p:spPr>
          <a:xfrm>
            <a:off x="7735824" y="2473452"/>
            <a:ext cx="384048" cy="91440"/>
          </a:xfrm>
          <a:prstGeom prst="rect">
            <a:avLst/>
          </a:prstGeom>
          <a:noFill/>
          <a:ln/>
        </p:spPr>
        <p:txBody>
          <a:bodyPr wrap="square" lIns="0" tIns="0" rIns="0" bIns="0" rtlCol="0" anchor="ctr"/>
          <a:lstStyle/>
          <a:p>
            <a:pPr marL="0" indent="0" algn="ctr">
              <a:buNone/>
            </a:pPr>
            <a:r>
              <a:rPr lang="en-US" sz="850" b="1">
                <a:solidFill>
                  <a:srgbClr val="FFFFFF"/>
                </a:solidFill>
                <a:latin typeface="Aptos" pitchFamily="34" charset="0"/>
                <a:ea typeface="Aptos" pitchFamily="34" charset="-122"/>
                <a:cs typeface="Aptos" pitchFamily="34" charset="-120"/>
              </a:rPr>
              <a:t>4</a:t>
            </a:r>
            <a:endParaRPr lang="en-US" sz="850"/>
          </a:p>
        </p:txBody>
      </p:sp>
      <p:sp>
        <p:nvSpPr>
          <p:cNvPr id="24" name="Text 21"/>
          <p:cNvSpPr/>
          <p:nvPr/>
        </p:nvSpPr>
        <p:spPr>
          <a:xfrm>
            <a:off x="8229600" y="2440720"/>
            <a:ext cx="1005840" cy="228600"/>
          </a:xfrm>
          <a:prstGeom prst="rect">
            <a:avLst/>
          </a:prstGeom>
          <a:noFill/>
          <a:ln/>
        </p:spPr>
        <p:txBody>
          <a:bodyPr wrap="square" lIns="0" tIns="0" rIns="0" bIns="0" rtlCol="0" anchor="ctr">
            <a:normAutofit/>
          </a:bodyPr>
          <a:lstStyle/>
          <a:p>
            <a:pPr marL="0" indent="0">
              <a:buNone/>
            </a:pPr>
            <a:r>
              <a:rPr lang="en-US" sz="1250" b="1">
                <a:solidFill>
                  <a:srgbClr val="111827"/>
                </a:solidFill>
                <a:latin typeface="Aptos" pitchFamily="34" charset="0"/>
                <a:ea typeface="Aptos" pitchFamily="34" charset="-122"/>
                <a:cs typeface="Aptos" pitchFamily="34" charset="-120"/>
              </a:rPr>
              <a:t>Cart</a:t>
            </a:r>
            <a:endParaRPr lang="en-US" sz="1250"/>
          </a:p>
        </p:txBody>
      </p:sp>
      <p:sp>
        <p:nvSpPr>
          <p:cNvPr id="25" name="Text 22"/>
          <p:cNvSpPr/>
          <p:nvPr/>
        </p:nvSpPr>
        <p:spPr>
          <a:xfrm>
            <a:off x="7781544" y="2779776"/>
            <a:ext cx="1417320" cy="301752"/>
          </a:xfrm>
          <a:prstGeom prst="rect">
            <a:avLst/>
          </a:prstGeom>
          <a:noFill/>
          <a:ln/>
        </p:spPr>
        <p:txBody>
          <a:bodyPr wrap="square" lIns="0" tIns="0" rIns="0" bIns="0" rtlCol="0" anchor="ctr">
            <a:normAutofit/>
          </a:bodyPr>
          <a:lstStyle/>
          <a:p>
            <a:pPr marL="0" indent="0">
              <a:buNone/>
            </a:pPr>
            <a:r>
              <a:rPr lang="en-US" sz="880">
                <a:solidFill>
                  <a:srgbClr val="667085"/>
                </a:solidFill>
                <a:latin typeface="Aptos" pitchFamily="34" charset="0"/>
                <a:ea typeface="Aptos" pitchFamily="34" charset="-122"/>
                <a:cs typeface="Aptos" pitchFamily="34" charset="-120"/>
              </a:rPr>
              <a:t>Review items and totals</a:t>
            </a:r>
            <a:endParaRPr lang="en-US" sz="880"/>
          </a:p>
        </p:txBody>
      </p:sp>
      <p:sp>
        <p:nvSpPr>
          <p:cNvPr id="26" name="Shape 23"/>
          <p:cNvSpPr/>
          <p:nvPr/>
        </p:nvSpPr>
        <p:spPr>
          <a:xfrm>
            <a:off x="9857232" y="2148840"/>
            <a:ext cx="1874520" cy="1143000"/>
          </a:xfrm>
          <a:prstGeom prst="roundRect">
            <a:avLst>
              <a:gd name="adj" fmla="val 6400"/>
            </a:avLst>
          </a:prstGeom>
          <a:solidFill>
            <a:srgbClr val="FFFFFF"/>
          </a:solidFill>
          <a:ln w="12700">
            <a:solidFill>
              <a:srgbClr val="E5E7EB"/>
            </a:solidFill>
            <a:prstDash val="solid"/>
          </a:ln>
        </p:spPr>
        <p:txBody>
          <a:bodyPr/>
          <a:lstStyle/>
          <a:p>
            <a:endParaRPr lang="en-US"/>
          </a:p>
        </p:txBody>
      </p:sp>
      <p:sp>
        <p:nvSpPr>
          <p:cNvPr id="27" name="Shape 24"/>
          <p:cNvSpPr/>
          <p:nvPr/>
        </p:nvSpPr>
        <p:spPr>
          <a:xfrm>
            <a:off x="10021824" y="2359152"/>
            <a:ext cx="384048" cy="384048"/>
          </a:xfrm>
          <a:prstGeom prst="ellipse">
            <a:avLst/>
          </a:prstGeom>
          <a:solidFill>
            <a:srgbClr val="111827"/>
          </a:solidFill>
          <a:ln w="12700">
            <a:solidFill>
              <a:srgbClr val="111827"/>
            </a:solidFill>
            <a:prstDash val="solid"/>
          </a:ln>
        </p:spPr>
        <p:txBody>
          <a:bodyPr/>
          <a:lstStyle/>
          <a:p>
            <a:endParaRPr lang="en-US"/>
          </a:p>
        </p:txBody>
      </p:sp>
      <p:sp>
        <p:nvSpPr>
          <p:cNvPr id="28" name="Text 25"/>
          <p:cNvSpPr/>
          <p:nvPr/>
        </p:nvSpPr>
        <p:spPr>
          <a:xfrm>
            <a:off x="10021824" y="2473452"/>
            <a:ext cx="384048" cy="91440"/>
          </a:xfrm>
          <a:prstGeom prst="rect">
            <a:avLst/>
          </a:prstGeom>
          <a:noFill/>
          <a:ln/>
        </p:spPr>
        <p:txBody>
          <a:bodyPr wrap="square" lIns="0" tIns="0" rIns="0" bIns="0" rtlCol="0" anchor="ctr"/>
          <a:lstStyle/>
          <a:p>
            <a:pPr marL="0" indent="0" algn="ctr">
              <a:buNone/>
            </a:pPr>
            <a:r>
              <a:rPr lang="en-US" sz="850" b="1">
                <a:solidFill>
                  <a:srgbClr val="FFFFFF"/>
                </a:solidFill>
                <a:latin typeface="Aptos" pitchFamily="34" charset="0"/>
                <a:ea typeface="Aptos" pitchFamily="34" charset="-122"/>
                <a:cs typeface="Aptos" pitchFamily="34" charset="-120"/>
              </a:rPr>
              <a:t>5</a:t>
            </a:r>
            <a:endParaRPr lang="en-US" sz="850"/>
          </a:p>
        </p:txBody>
      </p:sp>
      <p:sp>
        <p:nvSpPr>
          <p:cNvPr id="29" name="Text 26"/>
          <p:cNvSpPr/>
          <p:nvPr/>
        </p:nvSpPr>
        <p:spPr>
          <a:xfrm>
            <a:off x="10518253" y="2440720"/>
            <a:ext cx="1005840" cy="228600"/>
          </a:xfrm>
          <a:prstGeom prst="rect">
            <a:avLst/>
          </a:prstGeom>
          <a:noFill/>
          <a:ln/>
        </p:spPr>
        <p:txBody>
          <a:bodyPr wrap="square" lIns="0" tIns="0" rIns="0" bIns="0" rtlCol="0" anchor="ctr">
            <a:noAutofit/>
          </a:bodyPr>
          <a:lstStyle/>
          <a:p>
            <a:pPr marL="0" indent="0">
              <a:buNone/>
            </a:pPr>
            <a:r>
              <a:rPr lang="en-US" sz="1000" b="1">
                <a:solidFill>
                  <a:srgbClr val="111827"/>
                </a:solidFill>
                <a:latin typeface="Aptos" pitchFamily="34" charset="0"/>
                <a:ea typeface="Aptos" pitchFamily="34" charset="-122"/>
                <a:cs typeface="Aptos" pitchFamily="34" charset="-120"/>
              </a:rPr>
              <a:t>Orders + Tutorial</a:t>
            </a:r>
            <a:endParaRPr lang="en-US" sz="1000"/>
          </a:p>
        </p:txBody>
      </p:sp>
      <p:sp>
        <p:nvSpPr>
          <p:cNvPr id="30" name="Text 27"/>
          <p:cNvSpPr/>
          <p:nvPr/>
        </p:nvSpPr>
        <p:spPr>
          <a:xfrm>
            <a:off x="10067544" y="2779776"/>
            <a:ext cx="1417320" cy="301752"/>
          </a:xfrm>
          <a:prstGeom prst="rect">
            <a:avLst/>
          </a:prstGeom>
          <a:noFill/>
          <a:ln/>
        </p:spPr>
        <p:txBody>
          <a:bodyPr wrap="square" lIns="0" tIns="0" rIns="0" bIns="0" rtlCol="0" anchor="ctr">
            <a:normAutofit/>
          </a:bodyPr>
          <a:lstStyle/>
          <a:p>
            <a:pPr marL="0" indent="0">
              <a:buNone/>
            </a:pPr>
            <a:r>
              <a:rPr lang="en-US" sz="880">
                <a:solidFill>
                  <a:srgbClr val="667085"/>
                </a:solidFill>
                <a:latin typeface="Aptos" pitchFamily="34" charset="0"/>
                <a:ea typeface="Aptos" pitchFamily="34" charset="-122"/>
                <a:cs typeface="Aptos" pitchFamily="34" charset="-120"/>
              </a:rPr>
              <a:t>History and learning path</a:t>
            </a:r>
            <a:endParaRPr lang="en-US" sz="880"/>
          </a:p>
        </p:txBody>
      </p:sp>
      <p:sp>
        <p:nvSpPr>
          <p:cNvPr id="31" name="Shape 28"/>
          <p:cNvSpPr/>
          <p:nvPr/>
        </p:nvSpPr>
        <p:spPr>
          <a:xfrm>
            <a:off x="868680" y="3886200"/>
            <a:ext cx="1920240" cy="1152144"/>
          </a:xfrm>
          <a:prstGeom prst="roundRect">
            <a:avLst>
              <a:gd name="adj" fmla="val 6349"/>
            </a:avLst>
          </a:prstGeom>
          <a:solidFill>
            <a:srgbClr val="FFFFFF"/>
          </a:solidFill>
          <a:ln w="12700">
            <a:solidFill>
              <a:srgbClr val="E5E7EB">
                <a:alpha val="80000"/>
              </a:srgbClr>
            </a:solidFill>
            <a:prstDash val="solid"/>
          </a:ln>
          <a:effectLst>
            <a:outerShdw blurRad="15240" dist="50800" dir="2700000" algn="bl" rotWithShape="0">
              <a:srgbClr val="111827">
                <a:alpha val="8000"/>
              </a:srgbClr>
            </a:outerShdw>
          </a:effectLst>
        </p:spPr>
        <p:txBody>
          <a:bodyPr/>
          <a:lstStyle/>
          <a:p>
            <a:endParaRPr lang="en-US"/>
          </a:p>
        </p:txBody>
      </p:sp>
      <p:pic>
        <p:nvPicPr>
          <p:cNvPr id="32" name="Image 1" descr="/mnt/data/csc340_latest/csc340-project/high-fidelity-prototype/images/tech-sticker.png"/>
          <p:cNvPicPr>
            <a:picLocks noChangeAspect="1"/>
          </p:cNvPicPr>
          <p:nvPr/>
        </p:nvPicPr>
        <p:blipFill>
          <a:blip r:embed="rId4"/>
          <a:stretch>
            <a:fillRect/>
          </a:stretch>
        </p:blipFill>
        <p:spPr>
          <a:xfrm>
            <a:off x="1005840" y="4027204"/>
            <a:ext cx="1645920" cy="870136"/>
          </a:xfrm>
          <a:prstGeom prst="rect">
            <a:avLst/>
          </a:prstGeom>
        </p:spPr>
      </p:pic>
      <p:sp>
        <p:nvSpPr>
          <p:cNvPr id="33" name="Text 29"/>
          <p:cNvSpPr/>
          <p:nvPr/>
        </p:nvSpPr>
        <p:spPr>
          <a:xfrm>
            <a:off x="868680" y="5285232"/>
            <a:ext cx="1920240" cy="201168"/>
          </a:xfrm>
          <a:prstGeom prst="rect">
            <a:avLst/>
          </a:prstGeom>
          <a:noFill/>
          <a:ln/>
        </p:spPr>
        <p:txBody>
          <a:bodyPr wrap="square" lIns="0" tIns="0" rIns="0" bIns="0" rtlCol="0" anchor="ctr">
            <a:normAutofit/>
          </a:bodyPr>
          <a:lstStyle/>
          <a:p>
            <a:pPr marL="0" indent="0" algn="ctr">
              <a:buNone/>
            </a:pPr>
            <a:r>
              <a:rPr lang="en-US" sz="1020" b="1">
                <a:solidFill>
                  <a:srgbClr val="111827"/>
                </a:solidFill>
                <a:latin typeface="Aptos" pitchFamily="34" charset="0"/>
                <a:ea typeface="Aptos" pitchFamily="34" charset="-122"/>
                <a:cs typeface="Aptos" pitchFamily="34" charset="-120"/>
              </a:rPr>
              <a:t>Tech Sticker</a:t>
            </a:r>
            <a:endParaRPr lang="en-US" sz="1020"/>
          </a:p>
        </p:txBody>
      </p:sp>
      <p:sp>
        <p:nvSpPr>
          <p:cNvPr id="34" name="Shape 30"/>
          <p:cNvSpPr/>
          <p:nvPr/>
        </p:nvSpPr>
        <p:spPr>
          <a:xfrm>
            <a:off x="3035808" y="3886200"/>
            <a:ext cx="1920240" cy="1152144"/>
          </a:xfrm>
          <a:prstGeom prst="roundRect">
            <a:avLst>
              <a:gd name="adj" fmla="val 6349"/>
            </a:avLst>
          </a:prstGeom>
          <a:solidFill>
            <a:srgbClr val="FFFFFF"/>
          </a:solidFill>
          <a:ln w="12700">
            <a:solidFill>
              <a:srgbClr val="E5E7EB">
                <a:alpha val="80000"/>
              </a:srgbClr>
            </a:solidFill>
            <a:prstDash val="solid"/>
          </a:ln>
          <a:effectLst>
            <a:outerShdw blurRad="15240" dist="50800" dir="2700000" algn="bl" rotWithShape="0">
              <a:srgbClr val="111827">
                <a:alpha val="8000"/>
              </a:srgbClr>
            </a:outerShdw>
          </a:effectLst>
        </p:spPr>
        <p:txBody>
          <a:bodyPr/>
          <a:lstStyle/>
          <a:p>
            <a:endParaRPr lang="en-US"/>
          </a:p>
        </p:txBody>
      </p:sp>
      <p:pic>
        <p:nvPicPr>
          <p:cNvPr id="35" name="Image 2" descr="/mnt/data/csc340_latest/csc340-project/high-fidelity-prototype/images/ex-box.png"/>
          <p:cNvPicPr>
            <a:picLocks noChangeAspect="1"/>
          </p:cNvPicPr>
          <p:nvPr/>
        </p:nvPicPr>
        <p:blipFill>
          <a:blip r:embed="rId5"/>
          <a:stretch>
            <a:fillRect/>
          </a:stretch>
        </p:blipFill>
        <p:spPr>
          <a:xfrm>
            <a:off x="3172968" y="4027204"/>
            <a:ext cx="1645920" cy="870136"/>
          </a:xfrm>
          <a:prstGeom prst="rect">
            <a:avLst/>
          </a:prstGeom>
        </p:spPr>
      </p:pic>
      <p:sp>
        <p:nvSpPr>
          <p:cNvPr id="36" name="Text 31"/>
          <p:cNvSpPr/>
          <p:nvPr/>
        </p:nvSpPr>
        <p:spPr>
          <a:xfrm>
            <a:off x="3035808" y="5285232"/>
            <a:ext cx="1920240" cy="201168"/>
          </a:xfrm>
          <a:prstGeom prst="rect">
            <a:avLst/>
          </a:prstGeom>
          <a:noFill/>
          <a:ln/>
        </p:spPr>
        <p:txBody>
          <a:bodyPr wrap="square" lIns="0" tIns="0" rIns="0" bIns="0" rtlCol="0" anchor="ctr">
            <a:normAutofit/>
          </a:bodyPr>
          <a:lstStyle/>
          <a:p>
            <a:pPr marL="0" indent="0" algn="ctr">
              <a:buNone/>
            </a:pPr>
            <a:r>
              <a:rPr lang="en-US" sz="1020" b="1">
                <a:solidFill>
                  <a:srgbClr val="111827"/>
                </a:solidFill>
                <a:latin typeface="Aptos" pitchFamily="34" charset="0"/>
                <a:ea typeface="Aptos" pitchFamily="34" charset="-122"/>
                <a:cs typeface="Aptos" pitchFamily="34" charset="-120"/>
              </a:rPr>
              <a:t>Ex Box</a:t>
            </a:r>
            <a:endParaRPr lang="en-US" sz="1020"/>
          </a:p>
        </p:txBody>
      </p:sp>
      <p:sp>
        <p:nvSpPr>
          <p:cNvPr id="37" name="Shape 32"/>
          <p:cNvSpPr/>
          <p:nvPr/>
        </p:nvSpPr>
        <p:spPr>
          <a:xfrm>
            <a:off x="5202936" y="3886200"/>
            <a:ext cx="1920240" cy="1152144"/>
          </a:xfrm>
          <a:prstGeom prst="roundRect">
            <a:avLst>
              <a:gd name="adj" fmla="val 6349"/>
            </a:avLst>
          </a:prstGeom>
          <a:solidFill>
            <a:srgbClr val="FFFFFF"/>
          </a:solidFill>
          <a:ln w="12700">
            <a:solidFill>
              <a:srgbClr val="E5E7EB">
                <a:alpha val="80000"/>
              </a:srgbClr>
            </a:solidFill>
            <a:prstDash val="solid"/>
          </a:ln>
          <a:effectLst>
            <a:outerShdw blurRad="15240" dist="50800" dir="2700000" algn="bl" rotWithShape="0">
              <a:srgbClr val="111827">
                <a:alpha val="8000"/>
              </a:srgbClr>
            </a:outerShdw>
          </a:effectLst>
        </p:spPr>
        <p:txBody>
          <a:bodyPr/>
          <a:lstStyle/>
          <a:p>
            <a:endParaRPr lang="en-US"/>
          </a:p>
        </p:txBody>
      </p:sp>
      <p:pic>
        <p:nvPicPr>
          <p:cNvPr id="38" name="Image 3" descr="/mnt/data/csc340_latest/csc340-project/high-fidelity-prototype/images/poster-collection.png"/>
          <p:cNvPicPr>
            <a:picLocks noChangeAspect="1"/>
          </p:cNvPicPr>
          <p:nvPr/>
        </p:nvPicPr>
        <p:blipFill>
          <a:blip r:embed="rId6"/>
          <a:stretch>
            <a:fillRect/>
          </a:stretch>
        </p:blipFill>
        <p:spPr>
          <a:xfrm>
            <a:off x="5340096" y="4027204"/>
            <a:ext cx="1645920" cy="870136"/>
          </a:xfrm>
          <a:prstGeom prst="rect">
            <a:avLst/>
          </a:prstGeom>
        </p:spPr>
      </p:pic>
      <p:sp>
        <p:nvSpPr>
          <p:cNvPr id="39" name="Text 33"/>
          <p:cNvSpPr/>
          <p:nvPr/>
        </p:nvSpPr>
        <p:spPr>
          <a:xfrm>
            <a:off x="5202936" y="5285232"/>
            <a:ext cx="1920240" cy="201168"/>
          </a:xfrm>
          <a:prstGeom prst="rect">
            <a:avLst/>
          </a:prstGeom>
          <a:noFill/>
          <a:ln/>
        </p:spPr>
        <p:txBody>
          <a:bodyPr wrap="square" lIns="0" tIns="0" rIns="0" bIns="0" rtlCol="0" anchor="ctr">
            <a:normAutofit/>
          </a:bodyPr>
          <a:lstStyle/>
          <a:p>
            <a:pPr marL="0" indent="0" algn="ctr">
              <a:buNone/>
            </a:pPr>
            <a:r>
              <a:rPr lang="en-US" sz="1020" b="1">
                <a:solidFill>
                  <a:srgbClr val="111827"/>
                </a:solidFill>
                <a:latin typeface="Aptos" pitchFamily="34" charset="0"/>
                <a:ea typeface="Aptos" pitchFamily="34" charset="-122"/>
                <a:cs typeface="Aptos" pitchFamily="34" charset="-120"/>
              </a:rPr>
              <a:t>Poster Box</a:t>
            </a:r>
            <a:endParaRPr lang="en-US" sz="1020"/>
          </a:p>
        </p:txBody>
      </p:sp>
      <p:sp>
        <p:nvSpPr>
          <p:cNvPr id="40" name="Shape 34"/>
          <p:cNvSpPr/>
          <p:nvPr/>
        </p:nvSpPr>
        <p:spPr>
          <a:xfrm>
            <a:off x="7370064" y="3886200"/>
            <a:ext cx="1920240" cy="1152144"/>
          </a:xfrm>
          <a:prstGeom prst="roundRect">
            <a:avLst>
              <a:gd name="adj" fmla="val 6349"/>
            </a:avLst>
          </a:prstGeom>
          <a:solidFill>
            <a:srgbClr val="FFFFFF"/>
          </a:solidFill>
          <a:ln w="12700">
            <a:solidFill>
              <a:srgbClr val="E5E7EB">
                <a:alpha val="80000"/>
              </a:srgbClr>
            </a:solidFill>
            <a:prstDash val="solid"/>
          </a:ln>
          <a:effectLst>
            <a:outerShdw blurRad="15240" dist="50800" dir="2700000" algn="bl" rotWithShape="0">
              <a:srgbClr val="111827">
                <a:alpha val="8000"/>
              </a:srgbClr>
            </a:outerShdw>
          </a:effectLst>
        </p:spPr>
        <p:txBody>
          <a:bodyPr/>
          <a:lstStyle/>
          <a:p>
            <a:endParaRPr lang="en-US"/>
          </a:p>
        </p:txBody>
      </p:sp>
      <p:pic>
        <p:nvPicPr>
          <p:cNvPr id="41" name="Image 4" descr="/mnt/data/csc340_latest/csc340-project/high-fidelity-prototype/images/knock-out.png"/>
          <p:cNvPicPr>
            <a:picLocks noChangeAspect="1"/>
          </p:cNvPicPr>
          <p:nvPr/>
        </p:nvPicPr>
        <p:blipFill>
          <a:blip r:embed="rId7"/>
          <a:stretch>
            <a:fillRect/>
          </a:stretch>
        </p:blipFill>
        <p:spPr>
          <a:xfrm>
            <a:off x="7507224" y="4027204"/>
            <a:ext cx="1645920" cy="870136"/>
          </a:xfrm>
          <a:prstGeom prst="rect">
            <a:avLst/>
          </a:prstGeom>
        </p:spPr>
      </p:pic>
      <p:sp>
        <p:nvSpPr>
          <p:cNvPr id="42" name="Text 35"/>
          <p:cNvSpPr/>
          <p:nvPr/>
        </p:nvSpPr>
        <p:spPr>
          <a:xfrm>
            <a:off x="7370064" y="5285232"/>
            <a:ext cx="1920240" cy="201168"/>
          </a:xfrm>
          <a:prstGeom prst="rect">
            <a:avLst/>
          </a:prstGeom>
          <a:noFill/>
          <a:ln/>
        </p:spPr>
        <p:txBody>
          <a:bodyPr wrap="square" lIns="0" tIns="0" rIns="0" bIns="0" rtlCol="0" anchor="ctr">
            <a:normAutofit/>
          </a:bodyPr>
          <a:lstStyle/>
          <a:p>
            <a:pPr marL="0" indent="0" algn="ctr">
              <a:buNone/>
            </a:pPr>
            <a:r>
              <a:rPr lang="en-US" sz="1020" b="1">
                <a:solidFill>
                  <a:srgbClr val="111827"/>
                </a:solidFill>
                <a:latin typeface="Aptos" pitchFamily="34" charset="0"/>
                <a:ea typeface="Aptos" pitchFamily="34" charset="-122"/>
                <a:cs typeface="Aptos" pitchFamily="34" charset="-120"/>
              </a:rPr>
              <a:t>Knock Out</a:t>
            </a:r>
            <a:endParaRPr lang="en-US" sz="1020"/>
          </a:p>
        </p:txBody>
      </p:sp>
      <p:sp>
        <p:nvSpPr>
          <p:cNvPr id="43" name="Shape 36"/>
          <p:cNvSpPr/>
          <p:nvPr/>
        </p:nvSpPr>
        <p:spPr>
          <a:xfrm>
            <a:off x="9537192" y="3886200"/>
            <a:ext cx="1920240" cy="1152144"/>
          </a:xfrm>
          <a:prstGeom prst="roundRect">
            <a:avLst>
              <a:gd name="adj" fmla="val 6349"/>
            </a:avLst>
          </a:prstGeom>
          <a:solidFill>
            <a:srgbClr val="FFFFFF"/>
          </a:solidFill>
          <a:ln w="12700">
            <a:solidFill>
              <a:srgbClr val="E5E7EB">
                <a:alpha val="80000"/>
              </a:srgbClr>
            </a:solidFill>
            <a:prstDash val="solid"/>
          </a:ln>
          <a:effectLst>
            <a:outerShdw blurRad="15240" dist="50800" dir="2700000" algn="bl" rotWithShape="0">
              <a:srgbClr val="111827">
                <a:alpha val="8000"/>
              </a:srgbClr>
            </a:outerShdw>
          </a:effectLst>
        </p:spPr>
        <p:txBody>
          <a:bodyPr/>
          <a:lstStyle/>
          <a:p>
            <a:endParaRPr lang="en-US"/>
          </a:p>
        </p:txBody>
      </p:sp>
      <p:pic>
        <p:nvPicPr>
          <p:cNvPr id="44" name="Image 5" descr="/mnt/data/csc340_latest/csc340-project/high-fidelity-prototype/images/elite.png"/>
          <p:cNvPicPr>
            <a:picLocks noChangeAspect="1"/>
          </p:cNvPicPr>
          <p:nvPr/>
        </p:nvPicPr>
        <p:blipFill>
          <a:blip r:embed="rId8"/>
          <a:stretch>
            <a:fillRect/>
          </a:stretch>
        </p:blipFill>
        <p:spPr>
          <a:xfrm>
            <a:off x="9674352" y="4027204"/>
            <a:ext cx="1645920" cy="870136"/>
          </a:xfrm>
          <a:prstGeom prst="rect">
            <a:avLst/>
          </a:prstGeom>
        </p:spPr>
      </p:pic>
      <p:sp>
        <p:nvSpPr>
          <p:cNvPr id="45" name="Text 37"/>
          <p:cNvSpPr/>
          <p:nvPr/>
        </p:nvSpPr>
        <p:spPr>
          <a:xfrm>
            <a:off x="9537192" y="5285232"/>
            <a:ext cx="1920240" cy="201168"/>
          </a:xfrm>
          <a:prstGeom prst="rect">
            <a:avLst/>
          </a:prstGeom>
          <a:noFill/>
          <a:ln/>
        </p:spPr>
        <p:txBody>
          <a:bodyPr wrap="square" lIns="0" tIns="0" rIns="0" bIns="0" rtlCol="0" anchor="ctr">
            <a:normAutofit/>
          </a:bodyPr>
          <a:lstStyle/>
          <a:p>
            <a:pPr marL="0" indent="0" algn="ctr">
              <a:buNone/>
            </a:pPr>
            <a:r>
              <a:rPr lang="en-US" sz="1020" b="1">
                <a:solidFill>
                  <a:srgbClr val="111827"/>
                </a:solidFill>
                <a:latin typeface="Aptos" pitchFamily="34" charset="0"/>
                <a:ea typeface="Aptos" pitchFamily="34" charset="-122"/>
                <a:cs typeface="Aptos" pitchFamily="34" charset="-120"/>
              </a:rPr>
              <a:t>Elite Trainer</a:t>
            </a:r>
            <a:endParaRPr lang="en-US" sz="1020"/>
          </a:p>
        </p:txBody>
      </p:sp>
      <p:sp>
        <p:nvSpPr>
          <p:cNvPr id="46" name="Shape 38"/>
          <p:cNvSpPr/>
          <p:nvPr/>
        </p:nvSpPr>
        <p:spPr>
          <a:xfrm>
            <a:off x="868680" y="5779008"/>
            <a:ext cx="10241280" cy="420624"/>
          </a:xfrm>
          <a:prstGeom prst="roundRect">
            <a:avLst>
              <a:gd name="adj" fmla="val 17391"/>
            </a:avLst>
          </a:prstGeom>
          <a:solidFill>
            <a:srgbClr val="FFF8DC"/>
          </a:solidFill>
          <a:ln w="12700">
            <a:solidFill>
              <a:srgbClr val="F3E7B2"/>
            </a:solidFill>
            <a:prstDash val="solid"/>
          </a:ln>
        </p:spPr>
        <p:txBody>
          <a:bodyPr/>
          <a:lstStyle/>
          <a:p>
            <a:endParaRPr lang="en-US"/>
          </a:p>
        </p:txBody>
      </p:sp>
      <p:sp>
        <p:nvSpPr>
          <p:cNvPr id="47" name="Text 39"/>
          <p:cNvSpPr/>
          <p:nvPr/>
        </p:nvSpPr>
        <p:spPr>
          <a:xfrm>
            <a:off x="1051560" y="5888736"/>
            <a:ext cx="9784080" cy="146304"/>
          </a:xfrm>
          <a:prstGeom prst="rect">
            <a:avLst/>
          </a:prstGeom>
          <a:noFill/>
          <a:ln/>
        </p:spPr>
        <p:txBody>
          <a:bodyPr wrap="square" lIns="0" tIns="0" rIns="0" bIns="0" rtlCol="0" anchor="ctr"/>
          <a:lstStyle/>
          <a:p>
            <a:pPr marL="0" indent="0" algn="ctr">
              <a:buNone/>
            </a:pPr>
            <a:r>
              <a:rPr lang="en-US" sz="1100" b="1">
                <a:solidFill>
                  <a:srgbClr val="111827"/>
                </a:solidFill>
                <a:latin typeface="Aptos" pitchFamily="34" charset="0"/>
                <a:ea typeface="Aptos" pitchFamily="34" charset="-122"/>
                <a:cs typeface="Aptos" pitchFamily="34" charset="-120"/>
              </a:rPr>
              <a:t>All customer pages are navigable and use consistent product data across Home, Shop, Cart, History, and Detail pages.</a:t>
            </a:r>
            <a:endParaRPr lang="en-US" sz="1100"/>
          </a:p>
        </p:txBody>
      </p:sp>
      <p:sp>
        <p:nvSpPr>
          <p:cNvPr id="48" name="Text 40"/>
          <p:cNvSpPr/>
          <p:nvPr/>
        </p:nvSpPr>
        <p:spPr>
          <a:xfrm>
            <a:off x="594360" y="6473952"/>
            <a:ext cx="7315200" cy="201168"/>
          </a:xfrm>
          <a:prstGeom prst="rect">
            <a:avLst/>
          </a:prstGeom>
          <a:noFill/>
          <a:ln/>
        </p:spPr>
        <p:txBody>
          <a:bodyPr wrap="square" lIns="0" tIns="0" rIns="0" bIns="0" rtlCol="0" anchor="ctr"/>
          <a:lstStyle/>
          <a:p>
            <a:pPr marL="0" indent="0">
              <a:buNone/>
            </a:pPr>
            <a:r>
              <a:rPr lang="en-US" sz="850">
                <a:solidFill>
                  <a:srgbClr val="8A94A6"/>
                </a:solidFill>
                <a:latin typeface="Aptos" pitchFamily="34" charset="0"/>
                <a:ea typeface="Aptos" pitchFamily="34" charset="-122"/>
                <a:cs typeface="Aptos" pitchFamily="34" charset="-120"/>
              </a:rPr>
              <a:t>CSC 340 • High-Fidelity Prototype • 2/3</a:t>
            </a:r>
            <a:endParaRPr lang="en-US" sz="850"/>
          </a:p>
        </p:txBody>
      </p:sp>
      <p:pic>
        <p:nvPicPr>
          <p:cNvPr id="49" name="Image 0" descr="/mnt/data/csc340_latest/csc340-project/high-fidelity-prototype/images/PokeVerse-logo.png">
            <a:extLst>
              <a:ext uri="{FF2B5EF4-FFF2-40B4-BE49-F238E27FC236}">
                <a16:creationId xmlns:a16="http://schemas.microsoft.com/office/drawing/2014/main" id="{4F113899-7D9D-0DA3-9ADF-92876F8A15A4}"/>
              </a:ext>
            </a:extLst>
          </p:cNvPr>
          <p:cNvPicPr>
            <a:picLocks noChangeAspect="1"/>
          </p:cNvPicPr>
          <p:nvPr/>
        </p:nvPicPr>
        <p:blipFill>
          <a:blip r:embed="rId3"/>
          <a:stretch>
            <a:fillRect/>
          </a:stretch>
        </p:blipFill>
        <p:spPr>
          <a:xfrm>
            <a:off x="10841839" y="188995"/>
            <a:ext cx="1509876" cy="82296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3"/>
          <a:stretch>
            <a:fillRect/>
          </a:stretch>
        </p:blipFill>
        <p:spPr>
          <a:xfrm>
            <a:off x="10405872" y="210312"/>
            <a:ext cx="1325880" cy="722673"/>
          </a:xfrm>
          <a:prstGeom prst="rect">
            <a:avLst/>
          </a:prstGeom>
        </p:spPr>
      </p:pic>
      <p:sp>
        <p:nvSpPr>
          <p:cNvPr id="4" name="TextBox 3"/>
          <p:cNvSpPr txBox="1"/>
          <p:nvPr/>
        </p:nvSpPr>
        <p:spPr>
          <a:xfrm>
            <a:off x="713232" y="621792"/>
            <a:ext cx="9006840" cy="457200"/>
          </a:xfrm>
          <a:prstGeom prst="rect">
            <a:avLst/>
          </a:prstGeom>
          <a:noFill/>
        </p:spPr>
        <p:txBody>
          <a:bodyPr wrap="square">
            <a:spAutoFit/>
          </a:bodyPr>
          <a:lstStyle/>
          <a:p>
            <a:r>
              <a:rPr sz="2700" b="1">
                <a:solidFill>
                  <a:srgbClr val="111827"/>
                </a:solidFill>
                <a:latin typeface="Aptos Display"/>
              </a:rPr>
              <a:t>Seller / provider prototype demo flow</a:t>
            </a:r>
          </a:p>
        </p:txBody>
      </p:sp>
      <p:sp>
        <p:nvSpPr>
          <p:cNvPr id="5" name="TextBox 4"/>
          <p:cNvSpPr txBox="1"/>
          <p:nvPr/>
        </p:nvSpPr>
        <p:spPr>
          <a:xfrm>
            <a:off x="731520" y="1234440"/>
            <a:ext cx="7223760" cy="384048"/>
          </a:xfrm>
          <a:prstGeom prst="rect">
            <a:avLst/>
          </a:prstGeom>
          <a:noFill/>
        </p:spPr>
        <p:txBody>
          <a:bodyPr wrap="square">
            <a:spAutoFit/>
          </a:bodyPr>
          <a:lstStyle/>
          <a:p>
            <a:r>
              <a:rPr sz="1400" b="0">
                <a:solidFill>
                  <a:srgbClr val="667085"/>
                </a:solidFill>
                <a:latin typeface="Aptos"/>
              </a:rPr>
              <a:t>Anuraj’s subsystem: hard-coded UI pages that demonstrate the seller experience.</a:t>
            </a:r>
          </a:p>
        </p:txBody>
      </p:sp>
      <p:sp>
        <p:nvSpPr>
          <p:cNvPr id="6" name="Rounded Rectangle 5"/>
          <p:cNvSpPr/>
          <p:nvPr/>
        </p:nvSpPr>
        <p:spPr>
          <a:xfrm>
            <a:off x="713232" y="1993392"/>
            <a:ext cx="1874519" cy="1143000"/>
          </a:xfrm>
          <a:prstGeom prst="roundRect">
            <a:avLst/>
          </a:prstGeom>
          <a:solidFill>
            <a:srgbClr val="FFFFFF"/>
          </a:solidFill>
          <a:ln w="12700">
            <a:solidFill>
              <a:srgbClr val="E5E9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59536" y="2221992"/>
            <a:ext cx="420624" cy="420624"/>
          </a:xfrm>
          <a:prstGeom prst="ellipse">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9536" y="2318004"/>
            <a:ext cx="420624" cy="118872"/>
          </a:xfrm>
          <a:prstGeom prst="rect">
            <a:avLst/>
          </a:prstGeom>
          <a:noFill/>
        </p:spPr>
        <p:txBody>
          <a:bodyPr wrap="square" anchor="ctr">
            <a:spAutoFit/>
          </a:bodyPr>
          <a:lstStyle/>
          <a:p>
            <a:pPr algn="ctr"/>
            <a:r>
              <a:rPr sz="850" b="1">
                <a:solidFill>
                  <a:srgbClr val="FFFFFF"/>
                </a:solidFill>
                <a:latin typeface="Aptos"/>
              </a:rPr>
              <a:t>1</a:t>
            </a:r>
          </a:p>
        </p:txBody>
      </p:sp>
      <p:sp>
        <p:nvSpPr>
          <p:cNvPr id="9" name="TextBox 8"/>
          <p:cNvSpPr txBox="1"/>
          <p:nvPr/>
        </p:nvSpPr>
        <p:spPr>
          <a:xfrm>
            <a:off x="1353312" y="2194560"/>
            <a:ext cx="1060704" cy="384048"/>
          </a:xfrm>
          <a:prstGeom prst="rect">
            <a:avLst/>
          </a:prstGeom>
          <a:noFill/>
        </p:spPr>
        <p:txBody>
          <a:bodyPr wrap="square">
            <a:spAutoFit/>
          </a:bodyPr>
          <a:lstStyle/>
          <a:p>
            <a:r>
              <a:rPr sz="1080" b="1">
                <a:solidFill>
                  <a:srgbClr val="111827"/>
                </a:solidFill>
                <a:latin typeface="Aptos"/>
              </a:rPr>
              <a:t>Supplier Purchase</a:t>
            </a:r>
          </a:p>
        </p:txBody>
      </p:sp>
      <p:sp>
        <p:nvSpPr>
          <p:cNvPr id="10" name="TextBox 9"/>
          <p:cNvSpPr txBox="1"/>
          <p:nvPr/>
        </p:nvSpPr>
        <p:spPr>
          <a:xfrm>
            <a:off x="914400" y="2752344"/>
            <a:ext cx="1536192" cy="256032"/>
          </a:xfrm>
          <a:prstGeom prst="rect">
            <a:avLst/>
          </a:prstGeom>
          <a:noFill/>
        </p:spPr>
        <p:txBody>
          <a:bodyPr wrap="square">
            <a:spAutoFit/>
          </a:bodyPr>
          <a:lstStyle/>
          <a:p>
            <a:r>
              <a:rPr sz="850" b="0">
                <a:solidFill>
                  <a:srgbClr val="667085"/>
                </a:solidFill>
                <a:latin typeface="Aptos"/>
              </a:rPr>
              <a:t>Choose official packs to stock</a:t>
            </a:r>
          </a:p>
        </p:txBody>
      </p:sp>
      <p:sp>
        <p:nvSpPr>
          <p:cNvPr id="11" name="Rounded Rectangle 10"/>
          <p:cNvSpPr/>
          <p:nvPr/>
        </p:nvSpPr>
        <p:spPr>
          <a:xfrm>
            <a:off x="2798064" y="1993392"/>
            <a:ext cx="1874519" cy="1143000"/>
          </a:xfrm>
          <a:prstGeom prst="roundRect">
            <a:avLst/>
          </a:prstGeom>
          <a:solidFill>
            <a:srgbClr val="FFFFFF"/>
          </a:solidFill>
          <a:ln w="12700">
            <a:solidFill>
              <a:srgbClr val="E5E9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2944368" y="2221992"/>
            <a:ext cx="420624" cy="420624"/>
          </a:xfrm>
          <a:prstGeom prst="ellipse">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944368" y="2318004"/>
            <a:ext cx="420624" cy="118872"/>
          </a:xfrm>
          <a:prstGeom prst="rect">
            <a:avLst/>
          </a:prstGeom>
          <a:noFill/>
        </p:spPr>
        <p:txBody>
          <a:bodyPr wrap="square" anchor="ctr">
            <a:spAutoFit/>
          </a:bodyPr>
          <a:lstStyle/>
          <a:p>
            <a:pPr algn="ctr"/>
            <a:r>
              <a:rPr sz="850" b="1">
                <a:solidFill>
                  <a:srgbClr val="FFFFFF"/>
                </a:solidFill>
                <a:latin typeface="Aptos"/>
              </a:rPr>
              <a:t>2</a:t>
            </a:r>
          </a:p>
        </p:txBody>
      </p:sp>
      <p:sp>
        <p:nvSpPr>
          <p:cNvPr id="14" name="TextBox 13"/>
          <p:cNvSpPr txBox="1"/>
          <p:nvPr/>
        </p:nvSpPr>
        <p:spPr>
          <a:xfrm>
            <a:off x="3438144" y="2194560"/>
            <a:ext cx="1060704" cy="384048"/>
          </a:xfrm>
          <a:prstGeom prst="rect">
            <a:avLst/>
          </a:prstGeom>
          <a:noFill/>
        </p:spPr>
        <p:txBody>
          <a:bodyPr wrap="square">
            <a:spAutoFit/>
          </a:bodyPr>
          <a:lstStyle/>
          <a:p>
            <a:r>
              <a:rPr sz="1220" b="1">
                <a:solidFill>
                  <a:srgbClr val="111827"/>
                </a:solidFill>
                <a:latin typeface="Aptos"/>
              </a:rPr>
              <a:t>Inventory</a:t>
            </a:r>
          </a:p>
        </p:txBody>
      </p:sp>
      <p:sp>
        <p:nvSpPr>
          <p:cNvPr id="15" name="TextBox 14"/>
          <p:cNvSpPr txBox="1"/>
          <p:nvPr/>
        </p:nvSpPr>
        <p:spPr>
          <a:xfrm>
            <a:off x="2999232" y="2752344"/>
            <a:ext cx="1536192" cy="256032"/>
          </a:xfrm>
          <a:prstGeom prst="rect">
            <a:avLst/>
          </a:prstGeom>
          <a:noFill/>
        </p:spPr>
        <p:txBody>
          <a:bodyPr wrap="square">
            <a:spAutoFit/>
          </a:bodyPr>
          <a:lstStyle/>
          <a:p>
            <a:r>
              <a:rPr sz="850" b="0">
                <a:solidFill>
                  <a:srgbClr val="667085"/>
                </a:solidFill>
                <a:latin typeface="Aptos"/>
              </a:rPr>
              <a:t>Track quantity and pack type</a:t>
            </a:r>
          </a:p>
        </p:txBody>
      </p:sp>
      <p:sp>
        <p:nvSpPr>
          <p:cNvPr id="16" name="Rounded Rectangle 15"/>
          <p:cNvSpPr/>
          <p:nvPr/>
        </p:nvSpPr>
        <p:spPr>
          <a:xfrm>
            <a:off x="4882896" y="1993392"/>
            <a:ext cx="1874519" cy="1143000"/>
          </a:xfrm>
          <a:prstGeom prst="roundRect">
            <a:avLst/>
          </a:prstGeom>
          <a:solidFill>
            <a:srgbClr val="FFFFFF"/>
          </a:solidFill>
          <a:ln w="12700">
            <a:solidFill>
              <a:srgbClr val="E5E9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5029200" y="2221992"/>
            <a:ext cx="420624" cy="420624"/>
          </a:xfrm>
          <a:prstGeom prst="ellipse">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029200" y="2318004"/>
            <a:ext cx="420624" cy="118872"/>
          </a:xfrm>
          <a:prstGeom prst="rect">
            <a:avLst/>
          </a:prstGeom>
          <a:noFill/>
        </p:spPr>
        <p:txBody>
          <a:bodyPr wrap="square" anchor="ctr">
            <a:spAutoFit/>
          </a:bodyPr>
          <a:lstStyle/>
          <a:p>
            <a:pPr algn="ctr"/>
            <a:r>
              <a:rPr sz="850" b="1">
                <a:solidFill>
                  <a:srgbClr val="FFFFFF"/>
                </a:solidFill>
                <a:latin typeface="Aptos"/>
              </a:rPr>
              <a:t>3</a:t>
            </a:r>
          </a:p>
        </p:txBody>
      </p:sp>
      <p:sp>
        <p:nvSpPr>
          <p:cNvPr id="19" name="TextBox 18"/>
          <p:cNvSpPr txBox="1"/>
          <p:nvPr/>
        </p:nvSpPr>
        <p:spPr>
          <a:xfrm>
            <a:off x="5522976" y="2194560"/>
            <a:ext cx="1060704" cy="384048"/>
          </a:xfrm>
          <a:prstGeom prst="rect">
            <a:avLst/>
          </a:prstGeom>
          <a:noFill/>
        </p:spPr>
        <p:txBody>
          <a:bodyPr wrap="square">
            <a:spAutoFit/>
          </a:bodyPr>
          <a:lstStyle/>
          <a:p>
            <a:r>
              <a:rPr sz="1080" b="1">
                <a:solidFill>
                  <a:srgbClr val="111827"/>
                </a:solidFill>
                <a:latin typeface="Aptos"/>
              </a:rPr>
              <a:t>Create Listing</a:t>
            </a:r>
          </a:p>
        </p:txBody>
      </p:sp>
      <p:sp>
        <p:nvSpPr>
          <p:cNvPr id="20" name="TextBox 19"/>
          <p:cNvSpPr txBox="1"/>
          <p:nvPr/>
        </p:nvSpPr>
        <p:spPr>
          <a:xfrm>
            <a:off x="5084064" y="2752344"/>
            <a:ext cx="1536192" cy="256032"/>
          </a:xfrm>
          <a:prstGeom prst="rect">
            <a:avLst/>
          </a:prstGeom>
          <a:noFill/>
        </p:spPr>
        <p:txBody>
          <a:bodyPr wrap="square">
            <a:spAutoFit/>
          </a:bodyPr>
          <a:lstStyle/>
          <a:p>
            <a:r>
              <a:rPr sz="850" b="0">
                <a:solidFill>
                  <a:srgbClr val="667085"/>
                </a:solidFill>
                <a:latin typeface="Aptos"/>
              </a:rPr>
              <a:t>Price, photo, description</a:t>
            </a:r>
          </a:p>
        </p:txBody>
      </p:sp>
      <p:sp>
        <p:nvSpPr>
          <p:cNvPr id="21" name="Rounded Rectangle 20"/>
          <p:cNvSpPr/>
          <p:nvPr/>
        </p:nvSpPr>
        <p:spPr>
          <a:xfrm>
            <a:off x="6967728" y="1993392"/>
            <a:ext cx="1874519" cy="1143000"/>
          </a:xfrm>
          <a:prstGeom prst="roundRect">
            <a:avLst/>
          </a:prstGeom>
          <a:solidFill>
            <a:srgbClr val="FFFFFF"/>
          </a:solidFill>
          <a:ln w="12700">
            <a:solidFill>
              <a:srgbClr val="E5E9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7114032" y="2221992"/>
            <a:ext cx="420624" cy="420624"/>
          </a:xfrm>
          <a:prstGeom prst="ellipse">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114032" y="2318004"/>
            <a:ext cx="420624" cy="118872"/>
          </a:xfrm>
          <a:prstGeom prst="rect">
            <a:avLst/>
          </a:prstGeom>
          <a:noFill/>
        </p:spPr>
        <p:txBody>
          <a:bodyPr wrap="square" anchor="ctr">
            <a:spAutoFit/>
          </a:bodyPr>
          <a:lstStyle/>
          <a:p>
            <a:pPr algn="ctr"/>
            <a:r>
              <a:rPr sz="850" b="1">
                <a:solidFill>
                  <a:srgbClr val="FFFFFF"/>
                </a:solidFill>
                <a:latin typeface="Aptos"/>
              </a:rPr>
              <a:t>4</a:t>
            </a:r>
          </a:p>
        </p:txBody>
      </p:sp>
      <p:sp>
        <p:nvSpPr>
          <p:cNvPr id="24" name="TextBox 23"/>
          <p:cNvSpPr txBox="1"/>
          <p:nvPr/>
        </p:nvSpPr>
        <p:spPr>
          <a:xfrm>
            <a:off x="7607808" y="2194560"/>
            <a:ext cx="1060704" cy="384048"/>
          </a:xfrm>
          <a:prstGeom prst="rect">
            <a:avLst/>
          </a:prstGeom>
          <a:noFill/>
        </p:spPr>
        <p:txBody>
          <a:bodyPr wrap="square">
            <a:spAutoFit/>
          </a:bodyPr>
          <a:lstStyle/>
          <a:p>
            <a:r>
              <a:rPr sz="1220" b="1">
                <a:solidFill>
                  <a:srgbClr val="111827"/>
                </a:solidFill>
                <a:latin typeface="Aptos"/>
              </a:rPr>
              <a:t>Orders</a:t>
            </a:r>
          </a:p>
        </p:txBody>
      </p:sp>
      <p:sp>
        <p:nvSpPr>
          <p:cNvPr id="25" name="TextBox 24"/>
          <p:cNvSpPr txBox="1"/>
          <p:nvPr/>
        </p:nvSpPr>
        <p:spPr>
          <a:xfrm>
            <a:off x="7168896" y="2752344"/>
            <a:ext cx="1536192" cy="256032"/>
          </a:xfrm>
          <a:prstGeom prst="rect">
            <a:avLst/>
          </a:prstGeom>
          <a:noFill/>
        </p:spPr>
        <p:txBody>
          <a:bodyPr wrap="square">
            <a:spAutoFit/>
          </a:bodyPr>
          <a:lstStyle/>
          <a:p>
            <a:r>
              <a:rPr sz="850" b="0">
                <a:solidFill>
                  <a:srgbClr val="667085"/>
                </a:solidFill>
                <a:latin typeface="Aptos"/>
              </a:rPr>
              <a:t>Review buyer purchases</a:t>
            </a:r>
          </a:p>
        </p:txBody>
      </p:sp>
      <p:sp>
        <p:nvSpPr>
          <p:cNvPr id="26" name="Rounded Rectangle 25"/>
          <p:cNvSpPr/>
          <p:nvPr/>
        </p:nvSpPr>
        <p:spPr>
          <a:xfrm>
            <a:off x="9052560" y="1993392"/>
            <a:ext cx="1874519" cy="1143000"/>
          </a:xfrm>
          <a:prstGeom prst="roundRect">
            <a:avLst/>
          </a:prstGeom>
          <a:solidFill>
            <a:srgbClr val="FFFFFF"/>
          </a:solidFill>
          <a:ln w="12700">
            <a:solidFill>
              <a:srgbClr val="E5E9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9198864" y="2221992"/>
            <a:ext cx="420624" cy="420624"/>
          </a:xfrm>
          <a:prstGeom prst="ellipse">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198864" y="2318004"/>
            <a:ext cx="420624" cy="118872"/>
          </a:xfrm>
          <a:prstGeom prst="rect">
            <a:avLst/>
          </a:prstGeom>
          <a:noFill/>
        </p:spPr>
        <p:txBody>
          <a:bodyPr wrap="square" anchor="ctr">
            <a:spAutoFit/>
          </a:bodyPr>
          <a:lstStyle/>
          <a:p>
            <a:pPr algn="ctr"/>
            <a:r>
              <a:rPr sz="850" b="1">
                <a:solidFill>
                  <a:srgbClr val="FFFFFF"/>
                </a:solidFill>
                <a:latin typeface="Aptos"/>
              </a:rPr>
              <a:t>5</a:t>
            </a:r>
          </a:p>
        </p:txBody>
      </p:sp>
      <p:sp>
        <p:nvSpPr>
          <p:cNvPr id="29" name="TextBox 28"/>
          <p:cNvSpPr txBox="1"/>
          <p:nvPr/>
        </p:nvSpPr>
        <p:spPr>
          <a:xfrm>
            <a:off x="9692640" y="2194560"/>
            <a:ext cx="1060704" cy="384048"/>
          </a:xfrm>
          <a:prstGeom prst="rect">
            <a:avLst/>
          </a:prstGeom>
          <a:noFill/>
        </p:spPr>
        <p:txBody>
          <a:bodyPr wrap="square">
            <a:spAutoFit/>
          </a:bodyPr>
          <a:lstStyle/>
          <a:p>
            <a:r>
              <a:rPr sz="1220" b="1">
                <a:solidFill>
                  <a:srgbClr val="111827"/>
                </a:solidFill>
                <a:latin typeface="Aptos"/>
              </a:rPr>
              <a:t>Dashboard</a:t>
            </a:r>
          </a:p>
        </p:txBody>
      </p:sp>
      <p:sp>
        <p:nvSpPr>
          <p:cNvPr id="30" name="TextBox 29"/>
          <p:cNvSpPr txBox="1"/>
          <p:nvPr/>
        </p:nvSpPr>
        <p:spPr>
          <a:xfrm>
            <a:off x="9253728" y="2752344"/>
            <a:ext cx="1536192" cy="256032"/>
          </a:xfrm>
          <a:prstGeom prst="rect">
            <a:avLst/>
          </a:prstGeom>
          <a:noFill/>
        </p:spPr>
        <p:txBody>
          <a:bodyPr wrap="square">
            <a:spAutoFit/>
          </a:bodyPr>
          <a:lstStyle/>
          <a:p>
            <a:r>
              <a:rPr sz="850" b="0">
                <a:solidFill>
                  <a:srgbClr val="667085"/>
                </a:solidFill>
                <a:latin typeface="Aptos"/>
              </a:rPr>
              <a:t>Revenue and stock alerts</a:t>
            </a:r>
          </a:p>
        </p:txBody>
      </p:sp>
      <p:sp>
        <p:nvSpPr>
          <p:cNvPr id="31" name="Rounded Rectangle 30"/>
          <p:cNvSpPr/>
          <p:nvPr/>
        </p:nvSpPr>
        <p:spPr>
          <a:xfrm>
            <a:off x="822960" y="3502152"/>
            <a:ext cx="4462272" cy="1581912"/>
          </a:xfrm>
          <a:prstGeom prst="roundRect">
            <a:avLst/>
          </a:prstGeom>
          <a:solidFill>
            <a:srgbClr val="FFFFFF"/>
          </a:solidFill>
          <a:ln w="12700">
            <a:solidFill>
              <a:srgbClr val="E5E9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051560" y="3694176"/>
            <a:ext cx="2560320" cy="256032"/>
          </a:xfrm>
          <a:prstGeom prst="rect">
            <a:avLst/>
          </a:prstGeom>
          <a:noFill/>
        </p:spPr>
        <p:txBody>
          <a:bodyPr wrap="square">
            <a:spAutoFit/>
          </a:bodyPr>
          <a:lstStyle/>
          <a:p>
            <a:r>
              <a:rPr sz="1500" b="1">
                <a:solidFill>
                  <a:srgbClr val="111827"/>
                </a:solidFill>
                <a:latin typeface="Aptos"/>
              </a:rPr>
              <a:t>Seller Dashboard</a:t>
            </a:r>
          </a:p>
        </p:txBody>
      </p:sp>
      <p:sp>
        <p:nvSpPr>
          <p:cNvPr id="33" name="TextBox 32"/>
          <p:cNvSpPr txBox="1"/>
          <p:nvPr/>
        </p:nvSpPr>
        <p:spPr>
          <a:xfrm>
            <a:off x="1051560" y="3977639"/>
            <a:ext cx="3474720" cy="201168"/>
          </a:xfrm>
          <a:prstGeom prst="rect">
            <a:avLst/>
          </a:prstGeom>
          <a:noFill/>
        </p:spPr>
        <p:txBody>
          <a:bodyPr wrap="square">
            <a:spAutoFit/>
          </a:bodyPr>
          <a:lstStyle/>
          <a:p>
            <a:r>
              <a:rPr sz="880" b="0">
                <a:solidFill>
                  <a:srgbClr val="667085"/>
                </a:solidFill>
                <a:latin typeface="Aptos"/>
              </a:rPr>
              <a:t>Quick snapshot before listing new packs</a:t>
            </a:r>
          </a:p>
        </p:txBody>
      </p:sp>
      <p:sp>
        <p:nvSpPr>
          <p:cNvPr id="34" name="Rounded Rectangle 33"/>
          <p:cNvSpPr/>
          <p:nvPr/>
        </p:nvSpPr>
        <p:spPr>
          <a:xfrm>
            <a:off x="1051560" y="4315968"/>
            <a:ext cx="1143000" cy="512064"/>
          </a:xfrm>
          <a:prstGeom prst="roundRect">
            <a:avLst/>
          </a:prstGeom>
          <a:solidFill>
            <a:srgbClr val="F5F7FB"/>
          </a:solidFill>
          <a:ln w="12700">
            <a:solidFill>
              <a:srgbClr val="E5E9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143000" y="4389120"/>
            <a:ext cx="777240" cy="182880"/>
          </a:xfrm>
          <a:prstGeom prst="rect">
            <a:avLst/>
          </a:prstGeom>
          <a:noFill/>
        </p:spPr>
        <p:txBody>
          <a:bodyPr wrap="square">
            <a:spAutoFit/>
          </a:bodyPr>
          <a:lstStyle/>
          <a:p>
            <a:r>
              <a:rPr sz="1430" b="1">
                <a:solidFill>
                  <a:srgbClr val="111827"/>
                </a:solidFill>
                <a:latin typeface="Aptos"/>
              </a:rPr>
              <a:t>18</a:t>
            </a:r>
          </a:p>
        </p:txBody>
      </p:sp>
      <p:sp>
        <p:nvSpPr>
          <p:cNvPr id="36" name="TextBox 35"/>
          <p:cNvSpPr txBox="1"/>
          <p:nvPr/>
        </p:nvSpPr>
        <p:spPr>
          <a:xfrm>
            <a:off x="1143000" y="4617720"/>
            <a:ext cx="960120" cy="146304"/>
          </a:xfrm>
          <a:prstGeom prst="rect">
            <a:avLst/>
          </a:prstGeom>
          <a:noFill/>
        </p:spPr>
        <p:txBody>
          <a:bodyPr wrap="square">
            <a:spAutoFit/>
          </a:bodyPr>
          <a:lstStyle/>
          <a:p>
            <a:r>
              <a:rPr sz="740" b="0">
                <a:solidFill>
                  <a:srgbClr val="667085"/>
                </a:solidFill>
                <a:latin typeface="Aptos"/>
              </a:rPr>
              <a:t>Active listings</a:t>
            </a:r>
          </a:p>
        </p:txBody>
      </p:sp>
      <p:sp>
        <p:nvSpPr>
          <p:cNvPr id="37" name="Rounded Rectangle 36"/>
          <p:cNvSpPr/>
          <p:nvPr/>
        </p:nvSpPr>
        <p:spPr>
          <a:xfrm>
            <a:off x="2423160" y="4315968"/>
            <a:ext cx="1143000" cy="512064"/>
          </a:xfrm>
          <a:prstGeom prst="roundRect">
            <a:avLst/>
          </a:prstGeom>
          <a:solidFill>
            <a:srgbClr val="F5F7FB"/>
          </a:solidFill>
          <a:ln w="12700">
            <a:solidFill>
              <a:srgbClr val="E5E9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2514600" y="4389120"/>
            <a:ext cx="777240" cy="182880"/>
          </a:xfrm>
          <a:prstGeom prst="rect">
            <a:avLst/>
          </a:prstGeom>
          <a:noFill/>
        </p:spPr>
        <p:txBody>
          <a:bodyPr wrap="square">
            <a:spAutoFit/>
          </a:bodyPr>
          <a:lstStyle/>
          <a:p>
            <a:r>
              <a:rPr sz="1430" b="1">
                <a:solidFill>
                  <a:srgbClr val="111827"/>
                </a:solidFill>
                <a:latin typeface="Aptos"/>
              </a:rPr>
              <a:t>$420</a:t>
            </a:r>
          </a:p>
        </p:txBody>
      </p:sp>
      <p:sp>
        <p:nvSpPr>
          <p:cNvPr id="39" name="TextBox 38"/>
          <p:cNvSpPr txBox="1"/>
          <p:nvPr/>
        </p:nvSpPr>
        <p:spPr>
          <a:xfrm>
            <a:off x="2514600" y="4617720"/>
            <a:ext cx="960120" cy="146304"/>
          </a:xfrm>
          <a:prstGeom prst="rect">
            <a:avLst/>
          </a:prstGeom>
          <a:noFill/>
        </p:spPr>
        <p:txBody>
          <a:bodyPr wrap="square">
            <a:spAutoFit/>
          </a:bodyPr>
          <a:lstStyle/>
          <a:p>
            <a:r>
              <a:rPr sz="740" b="0">
                <a:solidFill>
                  <a:srgbClr val="667085"/>
                </a:solidFill>
                <a:latin typeface="Aptos"/>
              </a:rPr>
              <a:t>Mock revenue</a:t>
            </a:r>
          </a:p>
        </p:txBody>
      </p:sp>
      <p:sp>
        <p:nvSpPr>
          <p:cNvPr id="40" name="Rounded Rectangle 39"/>
          <p:cNvSpPr/>
          <p:nvPr/>
        </p:nvSpPr>
        <p:spPr>
          <a:xfrm>
            <a:off x="3794760" y="4315968"/>
            <a:ext cx="1143000" cy="512064"/>
          </a:xfrm>
          <a:prstGeom prst="roundRect">
            <a:avLst/>
          </a:prstGeom>
          <a:solidFill>
            <a:srgbClr val="F5F7FB"/>
          </a:solidFill>
          <a:ln w="12700">
            <a:solidFill>
              <a:srgbClr val="E5E9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886200" y="4389120"/>
            <a:ext cx="777240" cy="182880"/>
          </a:xfrm>
          <a:prstGeom prst="rect">
            <a:avLst/>
          </a:prstGeom>
          <a:noFill/>
        </p:spPr>
        <p:txBody>
          <a:bodyPr wrap="square">
            <a:spAutoFit/>
          </a:bodyPr>
          <a:lstStyle/>
          <a:p>
            <a:r>
              <a:rPr sz="1430" b="1">
                <a:solidFill>
                  <a:srgbClr val="E63946"/>
                </a:solidFill>
                <a:latin typeface="Aptos"/>
              </a:rPr>
              <a:t>5</a:t>
            </a:r>
          </a:p>
        </p:txBody>
      </p:sp>
      <p:sp>
        <p:nvSpPr>
          <p:cNvPr id="42" name="TextBox 41"/>
          <p:cNvSpPr txBox="1"/>
          <p:nvPr/>
        </p:nvSpPr>
        <p:spPr>
          <a:xfrm>
            <a:off x="3886200" y="4617720"/>
            <a:ext cx="960120" cy="146304"/>
          </a:xfrm>
          <a:prstGeom prst="rect">
            <a:avLst/>
          </a:prstGeom>
          <a:noFill/>
        </p:spPr>
        <p:txBody>
          <a:bodyPr wrap="square">
            <a:spAutoFit/>
          </a:bodyPr>
          <a:lstStyle/>
          <a:p>
            <a:r>
              <a:rPr sz="740" b="0">
                <a:solidFill>
                  <a:srgbClr val="667085"/>
                </a:solidFill>
                <a:latin typeface="Aptos"/>
              </a:rPr>
              <a:t>Low stock</a:t>
            </a:r>
          </a:p>
        </p:txBody>
      </p:sp>
      <p:sp>
        <p:nvSpPr>
          <p:cNvPr id="43" name="Rounded Rectangle 42"/>
          <p:cNvSpPr/>
          <p:nvPr/>
        </p:nvSpPr>
        <p:spPr>
          <a:xfrm>
            <a:off x="5559552" y="3456432"/>
            <a:ext cx="960120" cy="941832"/>
          </a:xfrm>
          <a:prstGeom prst="roundRect">
            <a:avLst/>
          </a:prstGeom>
          <a:solidFill>
            <a:srgbClr val="FFFFFF"/>
          </a:solidFill>
          <a:ln w="12700">
            <a:solidFill>
              <a:srgbClr val="E5E9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4" name="Picture 43" descr="image.png"/>
          <p:cNvPicPr>
            <a:picLocks noChangeAspect="1"/>
          </p:cNvPicPr>
          <p:nvPr/>
        </p:nvPicPr>
        <p:blipFill>
          <a:blip r:embed="rId4"/>
          <a:stretch>
            <a:fillRect/>
          </a:stretch>
        </p:blipFill>
        <p:spPr>
          <a:xfrm>
            <a:off x="5650992" y="3584448"/>
            <a:ext cx="777240" cy="411480"/>
          </a:xfrm>
          <a:prstGeom prst="rect">
            <a:avLst/>
          </a:prstGeom>
        </p:spPr>
      </p:pic>
      <p:sp>
        <p:nvSpPr>
          <p:cNvPr id="45" name="TextBox 44"/>
          <p:cNvSpPr txBox="1"/>
          <p:nvPr/>
        </p:nvSpPr>
        <p:spPr>
          <a:xfrm>
            <a:off x="5468112" y="4498848"/>
            <a:ext cx="1143000" cy="164592"/>
          </a:xfrm>
          <a:prstGeom prst="rect">
            <a:avLst/>
          </a:prstGeom>
          <a:noFill/>
        </p:spPr>
        <p:txBody>
          <a:bodyPr wrap="square">
            <a:spAutoFit/>
          </a:bodyPr>
          <a:lstStyle/>
          <a:p>
            <a:pPr algn="ctr"/>
            <a:r>
              <a:rPr sz="750" b="1">
                <a:solidFill>
                  <a:srgbClr val="111827"/>
                </a:solidFill>
                <a:latin typeface="Aptos"/>
              </a:rPr>
              <a:t>Tech Sticker</a:t>
            </a:r>
          </a:p>
        </p:txBody>
      </p:sp>
      <p:sp>
        <p:nvSpPr>
          <p:cNvPr id="46" name="TextBox 45"/>
          <p:cNvSpPr txBox="1"/>
          <p:nvPr/>
        </p:nvSpPr>
        <p:spPr>
          <a:xfrm>
            <a:off x="5468112" y="4736592"/>
            <a:ext cx="1143000" cy="137160"/>
          </a:xfrm>
          <a:prstGeom prst="rect">
            <a:avLst/>
          </a:prstGeom>
          <a:noFill/>
        </p:spPr>
        <p:txBody>
          <a:bodyPr wrap="square">
            <a:spAutoFit/>
          </a:bodyPr>
          <a:lstStyle/>
          <a:p>
            <a:pPr algn="ctr"/>
            <a:r>
              <a:rPr sz="660" b="0">
                <a:solidFill>
                  <a:srgbClr val="667085"/>
                </a:solidFill>
                <a:latin typeface="Aptos"/>
              </a:rPr>
              <a:t>Ready to list</a:t>
            </a:r>
          </a:p>
        </p:txBody>
      </p:sp>
      <p:sp>
        <p:nvSpPr>
          <p:cNvPr id="47" name="Rounded Rectangle 46"/>
          <p:cNvSpPr/>
          <p:nvPr/>
        </p:nvSpPr>
        <p:spPr>
          <a:xfrm>
            <a:off x="6629400" y="3456432"/>
            <a:ext cx="960120" cy="941832"/>
          </a:xfrm>
          <a:prstGeom prst="roundRect">
            <a:avLst/>
          </a:prstGeom>
          <a:solidFill>
            <a:srgbClr val="FFFFFF"/>
          </a:solidFill>
          <a:ln w="12700">
            <a:solidFill>
              <a:srgbClr val="E5E9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8" name="Picture 47" descr="image.png"/>
          <p:cNvPicPr>
            <a:picLocks noChangeAspect="1"/>
          </p:cNvPicPr>
          <p:nvPr/>
        </p:nvPicPr>
        <p:blipFill>
          <a:blip r:embed="rId5"/>
          <a:stretch>
            <a:fillRect/>
          </a:stretch>
        </p:blipFill>
        <p:spPr>
          <a:xfrm>
            <a:off x="6720840" y="3584448"/>
            <a:ext cx="777240" cy="411480"/>
          </a:xfrm>
          <a:prstGeom prst="rect">
            <a:avLst/>
          </a:prstGeom>
        </p:spPr>
      </p:pic>
      <p:sp>
        <p:nvSpPr>
          <p:cNvPr id="49" name="TextBox 48"/>
          <p:cNvSpPr txBox="1"/>
          <p:nvPr/>
        </p:nvSpPr>
        <p:spPr>
          <a:xfrm>
            <a:off x="6537960" y="4498848"/>
            <a:ext cx="1143000" cy="164592"/>
          </a:xfrm>
          <a:prstGeom prst="rect">
            <a:avLst/>
          </a:prstGeom>
          <a:noFill/>
        </p:spPr>
        <p:txBody>
          <a:bodyPr wrap="square">
            <a:spAutoFit/>
          </a:bodyPr>
          <a:lstStyle/>
          <a:p>
            <a:pPr algn="ctr"/>
            <a:r>
              <a:rPr sz="750" b="1">
                <a:solidFill>
                  <a:srgbClr val="111827"/>
                </a:solidFill>
                <a:latin typeface="Aptos"/>
              </a:rPr>
              <a:t>EX Box</a:t>
            </a:r>
          </a:p>
        </p:txBody>
      </p:sp>
      <p:sp>
        <p:nvSpPr>
          <p:cNvPr id="50" name="TextBox 49"/>
          <p:cNvSpPr txBox="1"/>
          <p:nvPr/>
        </p:nvSpPr>
        <p:spPr>
          <a:xfrm>
            <a:off x="6537960" y="4736592"/>
            <a:ext cx="1143000" cy="137160"/>
          </a:xfrm>
          <a:prstGeom prst="rect">
            <a:avLst/>
          </a:prstGeom>
          <a:noFill/>
        </p:spPr>
        <p:txBody>
          <a:bodyPr wrap="square">
            <a:spAutoFit/>
          </a:bodyPr>
          <a:lstStyle/>
          <a:p>
            <a:pPr algn="ctr"/>
            <a:r>
              <a:rPr sz="660" b="0">
                <a:solidFill>
                  <a:srgbClr val="667085"/>
                </a:solidFill>
                <a:latin typeface="Aptos"/>
              </a:rPr>
              <a:t>Ready to list</a:t>
            </a:r>
          </a:p>
        </p:txBody>
      </p:sp>
      <p:sp>
        <p:nvSpPr>
          <p:cNvPr id="51" name="Rounded Rectangle 50"/>
          <p:cNvSpPr/>
          <p:nvPr/>
        </p:nvSpPr>
        <p:spPr>
          <a:xfrm>
            <a:off x="7699248" y="3456432"/>
            <a:ext cx="960120" cy="941832"/>
          </a:xfrm>
          <a:prstGeom prst="roundRect">
            <a:avLst/>
          </a:prstGeom>
          <a:solidFill>
            <a:srgbClr val="FFFFFF"/>
          </a:solidFill>
          <a:ln w="12700">
            <a:solidFill>
              <a:srgbClr val="E5E9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2" name="Picture 51" descr="image.png"/>
          <p:cNvPicPr>
            <a:picLocks noChangeAspect="1"/>
          </p:cNvPicPr>
          <p:nvPr/>
        </p:nvPicPr>
        <p:blipFill>
          <a:blip r:embed="rId6"/>
          <a:stretch>
            <a:fillRect/>
          </a:stretch>
        </p:blipFill>
        <p:spPr>
          <a:xfrm>
            <a:off x="7790688" y="3584448"/>
            <a:ext cx="777240" cy="411480"/>
          </a:xfrm>
          <a:prstGeom prst="rect">
            <a:avLst/>
          </a:prstGeom>
        </p:spPr>
      </p:pic>
      <p:sp>
        <p:nvSpPr>
          <p:cNvPr id="53" name="TextBox 52"/>
          <p:cNvSpPr txBox="1"/>
          <p:nvPr/>
        </p:nvSpPr>
        <p:spPr>
          <a:xfrm>
            <a:off x="7607808" y="4498848"/>
            <a:ext cx="1143000" cy="164592"/>
          </a:xfrm>
          <a:prstGeom prst="rect">
            <a:avLst/>
          </a:prstGeom>
          <a:noFill/>
        </p:spPr>
        <p:txBody>
          <a:bodyPr wrap="square">
            <a:spAutoFit/>
          </a:bodyPr>
          <a:lstStyle/>
          <a:p>
            <a:pPr algn="ctr"/>
            <a:r>
              <a:rPr sz="750" b="1">
                <a:solidFill>
                  <a:srgbClr val="111827"/>
                </a:solidFill>
                <a:latin typeface="Aptos"/>
              </a:rPr>
              <a:t>Poster Box</a:t>
            </a:r>
          </a:p>
        </p:txBody>
      </p:sp>
      <p:sp>
        <p:nvSpPr>
          <p:cNvPr id="54" name="TextBox 53"/>
          <p:cNvSpPr txBox="1"/>
          <p:nvPr/>
        </p:nvSpPr>
        <p:spPr>
          <a:xfrm>
            <a:off x="7607808" y="4736592"/>
            <a:ext cx="1143000" cy="137160"/>
          </a:xfrm>
          <a:prstGeom prst="rect">
            <a:avLst/>
          </a:prstGeom>
          <a:noFill/>
        </p:spPr>
        <p:txBody>
          <a:bodyPr wrap="square">
            <a:spAutoFit/>
          </a:bodyPr>
          <a:lstStyle/>
          <a:p>
            <a:pPr algn="ctr"/>
            <a:r>
              <a:rPr sz="660" b="0">
                <a:solidFill>
                  <a:srgbClr val="667085"/>
                </a:solidFill>
                <a:latin typeface="Aptos"/>
              </a:rPr>
              <a:t>Ready to list</a:t>
            </a:r>
          </a:p>
        </p:txBody>
      </p:sp>
      <p:sp>
        <p:nvSpPr>
          <p:cNvPr id="55" name="Rounded Rectangle 54"/>
          <p:cNvSpPr/>
          <p:nvPr/>
        </p:nvSpPr>
        <p:spPr>
          <a:xfrm>
            <a:off x="8769096" y="3456432"/>
            <a:ext cx="960120" cy="941832"/>
          </a:xfrm>
          <a:prstGeom prst="roundRect">
            <a:avLst/>
          </a:prstGeom>
          <a:solidFill>
            <a:srgbClr val="FFFFFF"/>
          </a:solidFill>
          <a:ln w="12700">
            <a:solidFill>
              <a:srgbClr val="E5E9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6" name="Picture 55" descr="image.png"/>
          <p:cNvPicPr>
            <a:picLocks noChangeAspect="1"/>
          </p:cNvPicPr>
          <p:nvPr/>
        </p:nvPicPr>
        <p:blipFill>
          <a:blip r:embed="rId7"/>
          <a:stretch>
            <a:fillRect/>
          </a:stretch>
        </p:blipFill>
        <p:spPr>
          <a:xfrm>
            <a:off x="8860536" y="3584448"/>
            <a:ext cx="777240" cy="411480"/>
          </a:xfrm>
          <a:prstGeom prst="rect">
            <a:avLst/>
          </a:prstGeom>
        </p:spPr>
      </p:pic>
      <p:sp>
        <p:nvSpPr>
          <p:cNvPr id="57" name="TextBox 56"/>
          <p:cNvSpPr txBox="1"/>
          <p:nvPr/>
        </p:nvSpPr>
        <p:spPr>
          <a:xfrm>
            <a:off x="8677656" y="4498848"/>
            <a:ext cx="1143000" cy="164592"/>
          </a:xfrm>
          <a:prstGeom prst="rect">
            <a:avLst/>
          </a:prstGeom>
          <a:noFill/>
        </p:spPr>
        <p:txBody>
          <a:bodyPr wrap="square">
            <a:spAutoFit/>
          </a:bodyPr>
          <a:lstStyle/>
          <a:p>
            <a:pPr algn="ctr"/>
            <a:r>
              <a:rPr sz="750" b="1">
                <a:solidFill>
                  <a:srgbClr val="111827"/>
                </a:solidFill>
                <a:latin typeface="Aptos"/>
              </a:rPr>
              <a:t>Knock Out</a:t>
            </a:r>
          </a:p>
        </p:txBody>
      </p:sp>
      <p:sp>
        <p:nvSpPr>
          <p:cNvPr id="58" name="TextBox 57"/>
          <p:cNvSpPr txBox="1"/>
          <p:nvPr/>
        </p:nvSpPr>
        <p:spPr>
          <a:xfrm>
            <a:off x="8677656" y="4736592"/>
            <a:ext cx="1143000" cy="137160"/>
          </a:xfrm>
          <a:prstGeom prst="rect">
            <a:avLst/>
          </a:prstGeom>
          <a:noFill/>
        </p:spPr>
        <p:txBody>
          <a:bodyPr wrap="square">
            <a:spAutoFit/>
          </a:bodyPr>
          <a:lstStyle/>
          <a:p>
            <a:pPr algn="ctr"/>
            <a:r>
              <a:rPr sz="660" b="0">
                <a:solidFill>
                  <a:srgbClr val="667085"/>
                </a:solidFill>
                <a:latin typeface="Aptos"/>
              </a:rPr>
              <a:t>Ready to list</a:t>
            </a:r>
          </a:p>
        </p:txBody>
      </p:sp>
      <p:sp>
        <p:nvSpPr>
          <p:cNvPr id="59" name="Rounded Rectangle 58"/>
          <p:cNvSpPr/>
          <p:nvPr/>
        </p:nvSpPr>
        <p:spPr>
          <a:xfrm>
            <a:off x="9838944" y="3456432"/>
            <a:ext cx="960120" cy="941832"/>
          </a:xfrm>
          <a:prstGeom prst="roundRect">
            <a:avLst/>
          </a:prstGeom>
          <a:solidFill>
            <a:srgbClr val="FFFFFF"/>
          </a:solidFill>
          <a:ln w="12700">
            <a:solidFill>
              <a:srgbClr val="E5E9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0" name="Picture 59" descr="image.png"/>
          <p:cNvPicPr>
            <a:picLocks noChangeAspect="1"/>
          </p:cNvPicPr>
          <p:nvPr/>
        </p:nvPicPr>
        <p:blipFill>
          <a:blip r:embed="rId8"/>
          <a:stretch>
            <a:fillRect/>
          </a:stretch>
        </p:blipFill>
        <p:spPr>
          <a:xfrm>
            <a:off x="9930384" y="3584448"/>
            <a:ext cx="777240" cy="411480"/>
          </a:xfrm>
          <a:prstGeom prst="rect">
            <a:avLst/>
          </a:prstGeom>
        </p:spPr>
      </p:pic>
      <p:sp>
        <p:nvSpPr>
          <p:cNvPr id="61" name="TextBox 60"/>
          <p:cNvSpPr txBox="1"/>
          <p:nvPr/>
        </p:nvSpPr>
        <p:spPr>
          <a:xfrm>
            <a:off x="9747504" y="4498848"/>
            <a:ext cx="1143000" cy="164592"/>
          </a:xfrm>
          <a:prstGeom prst="rect">
            <a:avLst/>
          </a:prstGeom>
          <a:noFill/>
        </p:spPr>
        <p:txBody>
          <a:bodyPr wrap="square">
            <a:spAutoFit/>
          </a:bodyPr>
          <a:lstStyle/>
          <a:p>
            <a:pPr algn="ctr"/>
            <a:r>
              <a:rPr sz="750" b="1">
                <a:solidFill>
                  <a:srgbClr val="111827"/>
                </a:solidFill>
                <a:latin typeface="Aptos"/>
              </a:rPr>
              <a:t>Elite Trainer</a:t>
            </a:r>
          </a:p>
        </p:txBody>
      </p:sp>
      <p:sp>
        <p:nvSpPr>
          <p:cNvPr id="62" name="TextBox 61"/>
          <p:cNvSpPr txBox="1"/>
          <p:nvPr/>
        </p:nvSpPr>
        <p:spPr>
          <a:xfrm>
            <a:off x="9747504" y="4736592"/>
            <a:ext cx="1143000" cy="137160"/>
          </a:xfrm>
          <a:prstGeom prst="rect">
            <a:avLst/>
          </a:prstGeom>
          <a:noFill/>
        </p:spPr>
        <p:txBody>
          <a:bodyPr wrap="square">
            <a:spAutoFit/>
          </a:bodyPr>
          <a:lstStyle/>
          <a:p>
            <a:pPr algn="ctr"/>
            <a:r>
              <a:rPr sz="660" b="0">
                <a:solidFill>
                  <a:srgbClr val="667085"/>
                </a:solidFill>
                <a:latin typeface="Aptos"/>
              </a:rPr>
              <a:t>Ready to list</a:t>
            </a:r>
          </a:p>
        </p:txBody>
      </p:sp>
      <p:sp>
        <p:nvSpPr>
          <p:cNvPr id="63" name="Rounded Rectangle 62"/>
          <p:cNvSpPr/>
          <p:nvPr/>
        </p:nvSpPr>
        <p:spPr>
          <a:xfrm>
            <a:off x="822960" y="5413248"/>
            <a:ext cx="9802368" cy="420624"/>
          </a:xfrm>
          <a:prstGeom prst="roundRect">
            <a:avLst/>
          </a:prstGeom>
          <a:solidFill>
            <a:srgbClr val="FFF8D6"/>
          </a:solidFill>
          <a:ln w="12700">
            <a:solidFill>
              <a:srgbClr val="F4D7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960120" y="5532120"/>
            <a:ext cx="9509760" cy="164592"/>
          </a:xfrm>
          <a:prstGeom prst="rect">
            <a:avLst/>
          </a:prstGeom>
          <a:noFill/>
        </p:spPr>
        <p:txBody>
          <a:bodyPr wrap="square">
            <a:spAutoFit/>
          </a:bodyPr>
          <a:lstStyle/>
          <a:p>
            <a:pPr algn="ctr"/>
            <a:r>
              <a:rPr sz="1000" b="1">
                <a:solidFill>
                  <a:srgbClr val="111827"/>
                </a:solidFill>
                <a:latin typeface="Aptos"/>
              </a:rPr>
              <a:t>Seller pages show a complete static workflow: supplier purchase → inventory → product listing → order management → dashboard review.</a:t>
            </a:r>
          </a:p>
        </p:txBody>
      </p:sp>
      <p:sp>
        <p:nvSpPr>
          <p:cNvPr id="65" name="TextBox 64"/>
          <p:cNvSpPr txBox="1"/>
          <p:nvPr/>
        </p:nvSpPr>
        <p:spPr>
          <a:xfrm>
            <a:off x="594360" y="5916168"/>
            <a:ext cx="7315200" cy="182880"/>
          </a:xfrm>
          <a:prstGeom prst="rect">
            <a:avLst/>
          </a:prstGeom>
          <a:noFill/>
        </p:spPr>
        <p:txBody>
          <a:bodyPr wrap="square">
            <a:spAutoFit/>
          </a:bodyPr>
          <a:lstStyle/>
          <a:p>
            <a:r>
              <a:rPr sz="850" b="0">
                <a:solidFill>
                  <a:srgbClr val="8A94A6"/>
                </a:solidFill>
                <a:latin typeface="Aptos"/>
              </a:rPr>
              <a:t>CSC 340 • High-Fidelity Prototype • 3/3</a:t>
            </a:r>
          </a:p>
        </p:txBody>
      </p:sp>
    </p:spTree>
    <p:extLst>
      <p:ext uri="{BB962C8B-B14F-4D97-AF65-F5344CB8AC3E}">
        <p14:creationId xmlns:p14="http://schemas.microsoft.com/office/powerpoint/2010/main" val="16239687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a2761ec8-7198-4440-bea0-e9dd2af28b51}" enabled="1" method="Privileged" siteId="{73e15cf5-5dbb-46af-a862-753916269d73}" removed="0"/>
</clbl:labelList>
</file>

<file path=docProps/app.xml><?xml version="1.0" encoding="utf-8"?>
<Properties xmlns="http://schemas.openxmlformats.org/officeDocument/2006/extended-properties" xmlns:vt="http://schemas.openxmlformats.org/officeDocument/2006/docPropsVTypes">
  <TotalTime>0</TotalTime>
  <Words>408</Words>
  <Application>Microsoft Macintosh PowerPoint</Application>
  <PresentationFormat>Widescreen</PresentationFormat>
  <Paragraphs>77</Paragraphs>
  <Slides>3</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Aptos</vt:lpstr>
      <vt:lpstr>Aptos Display</vt:lpstr>
      <vt:lpstr>Arial</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Ziyad Abdelhamid</dc:creator>
  <cp:lastModifiedBy>Ziyad Abdelhamid</cp:lastModifiedBy>
  <cp:revision>2</cp:revision>
  <dcterms:created xsi:type="dcterms:W3CDTF">2026-09-22T17:00:06Z</dcterms:created>
  <dcterms:modified xsi:type="dcterms:W3CDTF">2026-09-23T20:51:44Z</dcterms:modified>
</cp:coreProperties>
</file>